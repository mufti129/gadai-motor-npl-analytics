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4"/>
  </p:normalViewPr>
  <p:slideViewPr>
    <p:cSldViewPr snapToGrid="0" snapToObjects="1">
      <p:cViewPr varScale="1">
        <p:scale>
          <a:sx n="105" d="100"/>
          <a:sy n="105" d="100"/>
        </p:scale>
        <p:origin x="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55819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rPr dirty="0"/>
              <a:t>PUSAT GADAI INDONESIA  •  DIVISI BISNIS &amp; </a:t>
            </a:r>
            <a:r>
              <a:rPr lang="en-US" dirty="0"/>
              <a:t>DATA ANALYTICS</a:t>
            </a:r>
            <a:r>
              <a:rPr dirty="0"/>
              <a:t>•  LAPORAN </a:t>
            </a:r>
            <a:r>
              <a:rPr lang="en-US" dirty="0"/>
              <a:t>SEPETMBER</a:t>
            </a:r>
            <a:r>
              <a:rPr dirty="0"/>
              <a:t>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400" dirty="0"/>
              <a:t>ANALISIS RISIKO NON-PERFORMING LOAN (NPL) GADAI MOTOR &amp; SISTEM REKOMENDASI UNDERWRITING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12464"/>
            <a:ext cx="10332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rPr dirty="0" err="1"/>
              <a:t>Estimasi</a:t>
            </a:r>
            <a:r>
              <a:rPr dirty="0"/>
              <a:t> </a:t>
            </a:r>
            <a:r>
              <a:rPr dirty="0" err="1"/>
              <a:t>Ekonometrika</a:t>
            </a:r>
            <a:r>
              <a:rPr dirty="0"/>
              <a:t> 139.493 </a:t>
            </a:r>
            <a:r>
              <a:rPr dirty="0" err="1"/>
              <a:t>Transaksi</a:t>
            </a:r>
            <a:r>
              <a:rPr dirty="0"/>
              <a:t>, </a:t>
            </a:r>
            <a:r>
              <a:rPr dirty="0" err="1"/>
              <a:t>Pengujian</a:t>
            </a:r>
            <a:r>
              <a:rPr dirty="0"/>
              <a:t> 8 </a:t>
            </a:r>
            <a:r>
              <a:rPr dirty="0" err="1"/>
              <a:t>Hipotesis</a:t>
            </a:r>
            <a:r>
              <a:rPr dirty="0"/>
              <a:t> </a:t>
            </a:r>
            <a:r>
              <a:rPr dirty="0" err="1"/>
              <a:t>Riset</a:t>
            </a:r>
            <a:r>
              <a:rPr dirty="0"/>
              <a:t>, </a:t>
            </a:r>
            <a:r>
              <a:rPr dirty="0" err="1"/>
              <a:t>Dekomposisi</a:t>
            </a:r>
            <a:r>
              <a:rPr dirty="0"/>
              <a:t> Simpson's Paradox pada LTV, </a:t>
            </a:r>
            <a:r>
              <a:rPr dirty="0" err="1"/>
              <a:t>Pembuktian</a:t>
            </a:r>
            <a:r>
              <a:rPr dirty="0"/>
              <a:t> </a:t>
            </a:r>
            <a:r>
              <a:rPr dirty="0" err="1"/>
              <a:t>Variabel</a:t>
            </a:r>
            <a:r>
              <a:rPr dirty="0"/>
              <a:t> Repeat Borrower, </a:t>
            </a:r>
            <a:r>
              <a:rPr dirty="0" err="1"/>
              <a:t>serta</a:t>
            </a:r>
            <a:r>
              <a:rPr dirty="0"/>
              <a:t> </a:t>
            </a:r>
            <a:r>
              <a:rPr dirty="0" err="1"/>
              <a:t>Formulasi</a:t>
            </a:r>
            <a:r>
              <a:rPr dirty="0"/>
              <a:t> </a:t>
            </a:r>
            <a:r>
              <a:rPr dirty="0" err="1"/>
              <a:t>Matriks</a:t>
            </a:r>
            <a:r>
              <a:rPr dirty="0"/>
              <a:t> </a:t>
            </a:r>
            <a:r>
              <a:rPr dirty="0" err="1"/>
              <a:t>Kebijakan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 Multi-</a:t>
            </a:r>
            <a:r>
              <a:rPr dirty="0" err="1"/>
              <a:t>Klaster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4632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139.493 Kontrak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Total Transaksi Bersih Valid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84632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49377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Rp 274,87 Miliar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Total Portofolio Pinjaman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84632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9377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6,91% (9.640)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Tingkat Default NPL Portofolio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84632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49377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OR = 1,71 - 1,90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Moral Hazard STNK Orang 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09360"/>
            <a:ext cx="64475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 dirty="0" err="1"/>
              <a:t>Penyusun</a:t>
            </a:r>
            <a:r>
              <a:rPr dirty="0"/>
              <a:t>: Data Analyst — Divisi </a:t>
            </a:r>
            <a:r>
              <a:rPr dirty="0" err="1"/>
              <a:t>Bisnis</a:t>
            </a:r>
            <a:r>
              <a:rPr dirty="0"/>
              <a:t> &amp; </a:t>
            </a:r>
            <a:r>
              <a:rPr lang="en-US" dirty="0"/>
              <a:t>Data Analytics</a:t>
            </a:r>
            <a:r>
              <a:rPr dirty="0"/>
              <a:t>  |  </a:t>
            </a:r>
            <a:r>
              <a:rPr dirty="0" err="1"/>
              <a:t>Dokumen</a:t>
            </a:r>
            <a:r>
              <a:rPr dirty="0"/>
              <a:t> : </a:t>
            </a:r>
            <a:r>
              <a:rPr dirty="0" err="1"/>
              <a:t>Laporan_Design_Riset_NPL_Gadai_Kendaraan.pdf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Ringkasan Eksekutif &amp; 4 Pilar Utama Temuan Riset Risiko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256032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98448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/>
              <a:t>1. Moral Hazard STNK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rPr sz="1200" dirty="0" err="1"/>
              <a:t>Prediktor</a:t>
            </a:r>
            <a:r>
              <a:rPr sz="1200" dirty="0"/>
              <a:t> Paling </a:t>
            </a:r>
            <a:r>
              <a:rPr sz="1200" dirty="0" err="1"/>
              <a:t>Signifikan</a:t>
            </a:r>
            <a:endParaRPr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28600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STNK A/N Orang Lain </a:t>
            </a:r>
            <a:r>
              <a:rPr sz="1200" dirty="0" err="1"/>
              <a:t>memiliki</a:t>
            </a:r>
            <a:r>
              <a:rPr sz="1200" dirty="0"/>
              <a:t> odds </a:t>
            </a:r>
            <a:r>
              <a:rPr sz="1200" dirty="0" err="1"/>
              <a:t>gagal</a:t>
            </a:r>
            <a:r>
              <a:rPr sz="1200" dirty="0"/>
              <a:t> </a:t>
            </a:r>
            <a:r>
              <a:rPr sz="1200" dirty="0" err="1"/>
              <a:t>bayar</a:t>
            </a:r>
            <a:r>
              <a:rPr sz="1200" dirty="0"/>
              <a:t> 1,71x s/d 1,90x </a:t>
            </a:r>
            <a:r>
              <a:rPr sz="1200" dirty="0" err="1"/>
              <a:t>lipat</a:t>
            </a:r>
            <a:r>
              <a:rPr sz="1200" dirty="0"/>
              <a:t> </a:t>
            </a:r>
            <a:r>
              <a:rPr sz="1200" dirty="0" err="1"/>
              <a:t>lebih</a:t>
            </a:r>
            <a:r>
              <a:rPr sz="1200" dirty="0"/>
              <a:t> </a:t>
            </a:r>
            <a:r>
              <a:rPr sz="1200" dirty="0" err="1"/>
              <a:t>tinggi</a:t>
            </a:r>
            <a:r>
              <a:rPr sz="1200" dirty="0"/>
              <a:t> </a:t>
            </a:r>
            <a:r>
              <a:rPr sz="1200" dirty="0" err="1"/>
              <a:t>dibanding</a:t>
            </a:r>
            <a:r>
              <a:rPr sz="1200" dirty="0"/>
              <a:t> a/n </a:t>
            </a:r>
            <a:r>
              <a:rPr sz="1200" dirty="0" err="1"/>
              <a:t>sendiri</a:t>
            </a:r>
            <a:r>
              <a:rPr sz="1200" dirty="0"/>
              <a:t> (p &lt; 10⁻¹⁰⁰).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Tingkat NPL STNK orang lain </a:t>
            </a:r>
            <a:r>
              <a:rPr sz="1200" dirty="0" err="1"/>
              <a:t>mencapai</a:t>
            </a:r>
            <a:r>
              <a:rPr sz="1200" dirty="0"/>
              <a:t> 8,56% vs a/n </a:t>
            </a:r>
            <a:r>
              <a:rPr sz="1200" dirty="0" err="1"/>
              <a:t>sendiri</a:t>
            </a:r>
            <a:r>
              <a:rPr sz="1200" dirty="0"/>
              <a:t> 4,94%.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Menjadi</a:t>
            </a:r>
            <a:r>
              <a:rPr sz="1200" dirty="0"/>
              <a:t> </a:t>
            </a:r>
            <a:r>
              <a:rPr sz="1200" dirty="0" err="1"/>
              <a:t>sumber</a:t>
            </a:r>
            <a:r>
              <a:rPr sz="1200" dirty="0"/>
              <a:t> </a:t>
            </a:r>
            <a:r>
              <a:rPr sz="1200" dirty="0" err="1"/>
              <a:t>risiko</a:t>
            </a:r>
            <a:r>
              <a:rPr sz="1200" dirty="0"/>
              <a:t> moral hazard </a:t>
            </a:r>
            <a:r>
              <a:rPr sz="1200" dirty="0" err="1"/>
              <a:t>terbesar</a:t>
            </a:r>
            <a:r>
              <a:rPr sz="1200" dirty="0"/>
              <a:t> </a:t>
            </a:r>
            <a:r>
              <a:rPr sz="1200" dirty="0" err="1"/>
              <a:t>dalam</a:t>
            </a:r>
            <a:r>
              <a:rPr sz="1200" dirty="0"/>
              <a:t> </a:t>
            </a:r>
            <a:r>
              <a:rPr sz="1200" dirty="0" err="1"/>
              <a:t>portofolio</a:t>
            </a:r>
            <a:r>
              <a:rPr sz="12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56032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298448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/>
              <a:t>2. </a:t>
            </a:r>
            <a:r>
              <a:rPr sz="1200" dirty="0" err="1"/>
              <a:t>Perilaku</a:t>
            </a:r>
            <a:r>
              <a:rPr sz="1200" dirty="0"/>
              <a:t> </a:t>
            </a:r>
            <a:r>
              <a:rPr sz="1200" dirty="0" err="1"/>
              <a:t>Debitur</a:t>
            </a:r>
            <a:r>
              <a:rPr sz="1200" dirty="0"/>
              <a:t> Lama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rPr sz="1200" dirty="0" err="1"/>
              <a:t>Efek</a:t>
            </a:r>
            <a:r>
              <a:rPr sz="1200" dirty="0"/>
              <a:t> Repeat Borrower </a:t>
            </a:r>
            <a:r>
              <a:rPr sz="1200" dirty="0" err="1"/>
              <a:t>Dominan</a:t>
            </a:r>
            <a:endParaRPr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3566160" y="2103120"/>
            <a:ext cx="22860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Debitur</a:t>
            </a:r>
            <a:r>
              <a:rPr sz="1200" dirty="0"/>
              <a:t> </a:t>
            </a:r>
            <a:r>
              <a:rPr sz="1200" dirty="0" err="1"/>
              <a:t>baru</a:t>
            </a:r>
            <a:r>
              <a:rPr sz="1200" dirty="0"/>
              <a:t> </a:t>
            </a:r>
            <a:r>
              <a:rPr sz="1200" dirty="0" err="1"/>
              <a:t>memiliki</a:t>
            </a:r>
            <a:r>
              <a:rPr sz="1200" dirty="0"/>
              <a:t> </a:t>
            </a:r>
            <a:r>
              <a:rPr sz="1200" dirty="0" err="1"/>
              <a:t>tingkat</a:t>
            </a:r>
            <a:r>
              <a:rPr sz="1200" dirty="0"/>
              <a:t> NPL 9,21%, </a:t>
            </a:r>
            <a:r>
              <a:rPr sz="1200" dirty="0" err="1"/>
              <a:t>sedangkan</a:t>
            </a:r>
            <a:r>
              <a:rPr sz="1200" dirty="0"/>
              <a:t> </a:t>
            </a:r>
            <a:r>
              <a:rPr sz="1200" dirty="0" err="1"/>
              <a:t>debitur</a:t>
            </a:r>
            <a:r>
              <a:rPr sz="1200" dirty="0"/>
              <a:t> lama </a:t>
            </a:r>
            <a:r>
              <a:rPr sz="1200" dirty="0" err="1"/>
              <a:t>hanya</a:t>
            </a:r>
            <a:r>
              <a:rPr sz="1200" dirty="0"/>
              <a:t> 2,70%.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Menjadi</a:t>
            </a:r>
            <a:r>
              <a:rPr sz="1200" dirty="0"/>
              <a:t> repeat borrower </a:t>
            </a:r>
            <a:r>
              <a:rPr sz="1200" dirty="0" err="1"/>
              <a:t>menurunkan</a:t>
            </a:r>
            <a:r>
              <a:rPr sz="1200" dirty="0"/>
              <a:t> odds </a:t>
            </a:r>
            <a:r>
              <a:rPr sz="1200" dirty="0" err="1"/>
              <a:t>risiko</a:t>
            </a:r>
            <a:r>
              <a:rPr sz="1200" dirty="0"/>
              <a:t> </a:t>
            </a:r>
            <a:r>
              <a:rPr sz="1200" dirty="0" err="1"/>
              <a:t>gagal</a:t>
            </a:r>
            <a:r>
              <a:rPr sz="1200" dirty="0"/>
              <a:t> </a:t>
            </a:r>
            <a:r>
              <a:rPr sz="1200" dirty="0" err="1"/>
              <a:t>bayar</a:t>
            </a:r>
            <a:r>
              <a:rPr sz="1200" dirty="0"/>
              <a:t> </a:t>
            </a:r>
            <a:r>
              <a:rPr sz="1200" dirty="0" err="1"/>
              <a:t>sebesar</a:t>
            </a:r>
            <a:r>
              <a:rPr sz="1200" dirty="0"/>
              <a:t> 71,1% (OR = 0,289, p &lt; 10⁻¹⁰⁰).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Model 4 (Full Enhanced) </a:t>
            </a:r>
            <a:r>
              <a:rPr sz="1200" dirty="0" err="1"/>
              <a:t>melonjakkan</a:t>
            </a:r>
            <a:r>
              <a:rPr sz="1200" dirty="0"/>
              <a:t> ROC-AUC </a:t>
            </a:r>
            <a:r>
              <a:rPr sz="1200" dirty="0" err="1"/>
              <a:t>menjadi</a:t>
            </a:r>
            <a:r>
              <a:rPr sz="1200" dirty="0"/>
              <a:t> 0,6702.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56032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298448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/>
              <a:t>3. Simpson's Paradox LTV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rPr sz="1200" dirty="0" err="1"/>
              <a:t>Pengendalian</a:t>
            </a:r>
            <a:r>
              <a:rPr sz="1200" dirty="0"/>
              <a:t> </a:t>
            </a:r>
            <a:r>
              <a:rPr sz="1200" dirty="0" err="1"/>
              <a:t>Risiko</a:t>
            </a:r>
            <a:r>
              <a:rPr sz="1200" dirty="0"/>
              <a:t> </a:t>
            </a:r>
            <a:r>
              <a:rPr sz="1200" dirty="0" err="1"/>
              <a:t>Terselubung</a:t>
            </a:r>
            <a:endParaRPr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6263640" y="2103120"/>
            <a:ext cx="22860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Secara</a:t>
            </a:r>
            <a:r>
              <a:rPr sz="1200" dirty="0"/>
              <a:t> </a:t>
            </a:r>
            <a:r>
              <a:rPr sz="1200" dirty="0" err="1"/>
              <a:t>univariat</a:t>
            </a:r>
            <a:r>
              <a:rPr sz="1200" dirty="0"/>
              <a:t> LTV </a:t>
            </a:r>
            <a:r>
              <a:rPr sz="1200" dirty="0" err="1"/>
              <a:t>tinggi</a:t>
            </a:r>
            <a:r>
              <a:rPr sz="1200" dirty="0"/>
              <a:t> (41–50%) </a:t>
            </a:r>
            <a:r>
              <a:rPr sz="1200" dirty="0" err="1"/>
              <a:t>terlihat</a:t>
            </a:r>
            <a:r>
              <a:rPr sz="1200" dirty="0"/>
              <a:t> </a:t>
            </a:r>
            <a:r>
              <a:rPr sz="1200" dirty="0" err="1"/>
              <a:t>aman</a:t>
            </a:r>
            <a:r>
              <a:rPr sz="1200" dirty="0"/>
              <a:t> (NPL 6,36%) </a:t>
            </a:r>
            <a:r>
              <a:rPr sz="1200" dirty="0" err="1"/>
              <a:t>karena</a:t>
            </a:r>
            <a:r>
              <a:rPr sz="1200" dirty="0"/>
              <a:t> 97% </a:t>
            </a:r>
            <a:r>
              <a:rPr sz="1200" dirty="0" err="1"/>
              <a:t>disalurkan</a:t>
            </a:r>
            <a:r>
              <a:rPr sz="1200" dirty="0"/>
              <a:t> </a:t>
            </a:r>
            <a:r>
              <a:rPr sz="1200" dirty="0" err="1"/>
              <a:t>ke</a:t>
            </a:r>
            <a:r>
              <a:rPr sz="1200" dirty="0"/>
              <a:t> STNK a/n </a:t>
            </a:r>
            <a:r>
              <a:rPr sz="1200" dirty="0" err="1"/>
              <a:t>sendiri</a:t>
            </a:r>
            <a:r>
              <a:rPr sz="1200" dirty="0"/>
              <a:t>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Setelah </a:t>
            </a:r>
            <a:r>
              <a:rPr sz="1200" dirty="0" err="1"/>
              <a:t>dikontrol</a:t>
            </a:r>
            <a:r>
              <a:rPr sz="1200" dirty="0"/>
              <a:t> </a:t>
            </a:r>
            <a:r>
              <a:rPr sz="1200" dirty="0" err="1"/>
              <a:t>multivariat</a:t>
            </a:r>
            <a:r>
              <a:rPr sz="1200" dirty="0"/>
              <a:t>, LTV_MAX </a:t>
            </a:r>
            <a:r>
              <a:rPr sz="1200" dirty="0" err="1"/>
              <a:t>terbukti</a:t>
            </a:r>
            <a:r>
              <a:rPr sz="1200" dirty="0"/>
              <a:t> </a:t>
            </a:r>
            <a:r>
              <a:rPr sz="1200" dirty="0" err="1"/>
              <a:t>signifikan</a:t>
            </a:r>
            <a:r>
              <a:rPr sz="1200" dirty="0"/>
              <a:t> </a:t>
            </a:r>
            <a:r>
              <a:rPr sz="1200" dirty="0" err="1"/>
              <a:t>menurunkan</a:t>
            </a:r>
            <a:r>
              <a:rPr sz="1200" dirty="0"/>
              <a:t> AIC </a:t>
            </a:r>
            <a:r>
              <a:rPr sz="1200" dirty="0" err="1"/>
              <a:t>sebesar</a:t>
            </a:r>
            <a:r>
              <a:rPr sz="1200" dirty="0"/>
              <a:t> 98 </a:t>
            </a:r>
            <a:r>
              <a:rPr sz="1200" dirty="0" err="1"/>
              <a:t>poin</a:t>
            </a:r>
            <a:r>
              <a:rPr sz="1200" dirty="0"/>
              <a:t> (p &lt; 10⁻²⁴).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LTV </a:t>
            </a:r>
            <a:r>
              <a:rPr sz="1200" dirty="0" err="1"/>
              <a:t>kontinu</a:t>
            </a:r>
            <a:r>
              <a:rPr sz="1200" dirty="0"/>
              <a:t> (Model 2) </a:t>
            </a:r>
            <a:r>
              <a:rPr sz="1200" dirty="0" err="1"/>
              <a:t>terbukti</a:t>
            </a:r>
            <a:r>
              <a:rPr sz="1200" dirty="0"/>
              <a:t> superior vs LTV </a:t>
            </a:r>
            <a:r>
              <a:rPr sz="1200" dirty="0" err="1"/>
              <a:t>diskrit</a:t>
            </a:r>
            <a:r>
              <a:rPr sz="1200" dirty="0"/>
              <a:t> (Model 3).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280160"/>
            <a:ext cx="256032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298448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dirty="0"/>
              <a:t>4. </a:t>
            </a:r>
            <a:r>
              <a:rPr sz="1200" dirty="0" err="1"/>
              <a:t>Karakteristik</a:t>
            </a:r>
            <a:r>
              <a:rPr sz="1200" dirty="0"/>
              <a:t> </a:t>
            </a:r>
            <a:r>
              <a:rPr sz="1200" dirty="0" err="1"/>
              <a:t>Agunan</a:t>
            </a:r>
            <a:endParaRPr sz="1200" dirty="0"/>
          </a:p>
          <a:p>
            <a:pPr>
              <a:defRPr sz="950">
                <a:solidFill>
                  <a:srgbClr val="F1F5F9"/>
                </a:solidFill>
              </a:defRPr>
            </a:pPr>
            <a:r>
              <a:rPr sz="1200" dirty="0" err="1"/>
              <a:t>Depresiasi</a:t>
            </a:r>
            <a:r>
              <a:rPr sz="1200" dirty="0"/>
              <a:t> &amp; Nominal </a:t>
            </a:r>
            <a:r>
              <a:rPr sz="1200" dirty="0" err="1"/>
              <a:t>Pinjaman</a:t>
            </a:r>
            <a:endParaRPr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8961120" y="2103120"/>
            <a:ext cx="228600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Setiap</a:t>
            </a:r>
            <a:r>
              <a:rPr sz="1200" dirty="0"/>
              <a:t> </a:t>
            </a:r>
            <a:r>
              <a:rPr sz="1200" dirty="0" err="1"/>
              <a:t>penambahan</a:t>
            </a:r>
            <a:r>
              <a:rPr sz="1200" dirty="0"/>
              <a:t> </a:t>
            </a:r>
            <a:r>
              <a:rPr sz="1200" dirty="0" err="1"/>
              <a:t>usia</a:t>
            </a:r>
            <a:r>
              <a:rPr sz="1200" dirty="0"/>
              <a:t> motor 1 </a:t>
            </a:r>
            <a:r>
              <a:rPr sz="1200" dirty="0" err="1"/>
              <a:t>tahun</a:t>
            </a:r>
            <a:r>
              <a:rPr sz="1200" dirty="0"/>
              <a:t> </a:t>
            </a:r>
            <a:r>
              <a:rPr sz="1200" dirty="0" err="1"/>
              <a:t>meningkatkan</a:t>
            </a:r>
            <a:r>
              <a:rPr sz="1200" dirty="0"/>
              <a:t> odds NPL </a:t>
            </a:r>
            <a:r>
              <a:rPr sz="1200" dirty="0" err="1"/>
              <a:t>sebesar</a:t>
            </a:r>
            <a:r>
              <a:rPr sz="1200" dirty="0"/>
              <a:t> +9,3% (p &lt; 10⁻⁶⁷).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Setiap</a:t>
            </a:r>
            <a:r>
              <a:rPr sz="1200" dirty="0"/>
              <a:t> </a:t>
            </a:r>
            <a:r>
              <a:rPr sz="1200" dirty="0" err="1"/>
              <a:t>kenaikan</a:t>
            </a:r>
            <a:r>
              <a:rPr sz="1200" dirty="0"/>
              <a:t> </a:t>
            </a:r>
            <a:r>
              <a:rPr sz="1200" dirty="0" err="1"/>
              <a:t>pinjaman</a:t>
            </a:r>
            <a:r>
              <a:rPr sz="1200" dirty="0"/>
              <a:t> </a:t>
            </a:r>
            <a:r>
              <a:rPr sz="1200" dirty="0" err="1"/>
              <a:t>pokok</a:t>
            </a:r>
            <a:r>
              <a:rPr sz="1200" dirty="0"/>
              <a:t> Rp 1 Juta </a:t>
            </a:r>
            <a:r>
              <a:rPr sz="1200" dirty="0" err="1"/>
              <a:t>meningkatkan</a:t>
            </a:r>
            <a:r>
              <a:rPr sz="1200" dirty="0"/>
              <a:t> odds </a:t>
            </a:r>
            <a:r>
              <a:rPr sz="1200" dirty="0" err="1"/>
              <a:t>macet</a:t>
            </a:r>
            <a:r>
              <a:rPr sz="1200" dirty="0"/>
              <a:t> </a:t>
            </a:r>
            <a:r>
              <a:rPr sz="1200" dirty="0" err="1"/>
              <a:t>sebesar</a:t>
            </a:r>
            <a:r>
              <a:rPr sz="1200" dirty="0"/>
              <a:t> +43,4% (p &lt; 10⁻⁸⁵).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Agunan</a:t>
            </a:r>
            <a:r>
              <a:rPr sz="1200" dirty="0"/>
              <a:t> </a:t>
            </a:r>
            <a:r>
              <a:rPr sz="1200" dirty="0" err="1"/>
              <a:t>berumur</a:t>
            </a:r>
            <a:r>
              <a:rPr sz="1200" dirty="0"/>
              <a:t> &gt;=10 </a:t>
            </a:r>
            <a:r>
              <a:rPr sz="1200" dirty="0" err="1"/>
              <a:t>tahun</a:t>
            </a:r>
            <a:r>
              <a:rPr sz="1200" dirty="0"/>
              <a:t> </a:t>
            </a:r>
            <a:r>
              <a:rPr sz="1200" dirty="0" err="1"/>
              <a:t>mencapai</a:t>
            </a:r>
            <a:r>
              <a:rPr sz="1200" dirty="0"/>
              <a:t> NPL </a:t>
            </a:r>
            <a:r>
              <a:rPr sz="1200" dirty="0" err="1"/>
              <a:t>tertinggi</a:t>
            </a:r>
            <a:r>
              <a:rPr sz="1200" dirty="0"/>
              <a:t> </a:t>
            </a:r>
            <a:r>
              <a:rPr sz="1200" dirty="0" err="1"/>
              <a:t>sebesar</a:t>
            </a:r>
            <a:r>
              <a:rPr sz="1200" dirty="0"/>
              <a:t> 7,72%.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03995C-F840-4648-A364-9F60D86DDE10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Profil Karakteristik Portofolio Gadai &amp; Audit Kesehatan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1_np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19646"/>
            <a:ext cx="5120640" cy="44640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280160"/>
            <a:ext cx="49377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5600" y="1622716"/>
            <a:ext cx="457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400" dirty="0"/>
              <a:t>RINGKASAN METRIK &amp; AUDIT INTEGRITAS</a:t>
            </a:r>
          </a:p>
          <a:p>
            <a:br>
              <a:rPr sz="1400" dirty="0"/>
            </a:br>
            <a:r>
              <a:rPr sz="1400" dirty="0"/>
              <a:t>1. Skala </a:t>
            </a:r>
            <a:r>
              <a:rPr sz="1400" dirty="0" err="1"/>
              <a:t>Portofolio</a:t>
            </a:r>
            <a:r>
              <a:rPr sz="1400" dirty="0"/>
              <a:t> </a:t>
            </a:r>
            <a:r>
              <a:rPr sz="1400" dirty="0" err="1"/>
              <a:t>Pinjaman</a:t>
            </a:r>
            <a:r>
              <a:rPr sz="1400" dirty="0"/>
              <a:t> (N = 139.493 </a:t>
            </a:r>
            <a:r>
              <a:rPr sz="1400" dirty="0" err="1"/>
              <a:t>Transaksi</a:t>
            </a:r>
            <a:r>
              <a:rPr sz="1400" dirty="0"/>
              <a:t>):</a:t>
            </a:r>
            <a:br>
              <a:rPr sz="1400" dirty="0"/>
            </a:br>
            <a:r>
              <a:rPr sz="1400" dirty="0"/>
              <a:t>   • Total </a:t>
            </a:r>
            <a:r>
              <a:rPr sz="1400" dirty="0" err="1"/>
              <a:t>Akumulasi</a:t>
            </a:r>
            <a:r>
              <a:rPr sz="1400" dirty="0"/>
              <a:t> </a:t>
            </a:r>
            <a:r>
              <a:rPr sz="1400" dirty="0" err="1"/>
              <a:t>Pinjaman</a:t>
            </a:r>
            <a:r>
              <a:rPr sz="1400" dirty="0"/>
              <a:t>: Rp 274,87 </a:t>
            </a:r>
            <a:r>
              <a:rPr sz="1400" dirty="0" err="1"/>
              <a:t>Miliar</a:t>
            </a:r>
            <a:br>
              <a:rPr sz="1400" dirty="0"/>
            </a:br>
            <a:r>
              <a:rPr sz="1400" dirty="0"/>
              <a:t>   • Rata-rata </a:t>
            </a:r>
            <a:r>
              <a:rPr sz="1400" dirty="0" err="1"/>
              <a:t>Plafon</a:t>
            </a:r>
            <a:r>
              <a:rPr sz="1400" dirty="0"/>
              <a:t> </a:t>
            </a:r>
            <a:r>
              <a:rPr sz="1400" dirty="0" err="1"/>
              <a:t>Pinjaman</a:t>
            </a:r>
            <a:r>
              <a:rPr sz="1400" dirty="0"/>
              <a:t> </a:t>
            </a:r>
            <a:r>
              <a:rPr sz="1400" dirty="0" err="1"/>
              <a:t>Pokok</a:t>
            </a:r>
            <a:r>
              <a:rPr sz="1400" dirty="0"/>
              <a:t>: Rp 1.970.495 (Median: Rp 1.800.000)</a:t>
            </a:r>
            <a:br>
              <a:rPr sz="1400" dirty="0"/>
            </a:br>
            <a:r>
              <a:rPr sz="1400" dirty="0"/>
              <a:t>   • Rata-rata </a:t>
            </a:r>
            <a:r>
              <a:rPr sz="1400" dirty="0" err="1"/>
              <a:t>Taksiran</a:t>
            </a:r>
            <a:r>
              <a:rPr sz="1400" dirty="0"/>
              <a:t> Nilai </a:t>
            </a:r>
            <a:r>
              <a:rPr sz="1400" dirty="0" err="1"/>
              <a:t>Kendaraan</a:t>
            </a:r>
            <a:r>
              <a:rPr sz="1400" dirty="0"/>
              <a:t>: Rp 6.032.672 (Median: Rp 5.000.000)</a:t>
            </a:r>
            <a:br>
              <a:rPr sz="1400" dirty="0"/>
            </a:br>
            <a:r>
              <a:rPr sz="1400" dirty="0"/>
              <a:t>   • Rata-rata </a:t>
            </a:r>
            <a:r>
              <a:rPr sz="1400" dirty="0" err="1"/>
              <a:t>Usia</a:t>
            </a:r>
            <a:r>
              <a:rPr sz="1400" dirty="0"/>
              <a:t> </a:t>
            </a:r>
            <a:r>
              <a:rPr sz="1400" dirty="0" err="1"/>
              <a:t>Kendaraan</a:t>
            </a:r>
            <a:r>
              <a:rPr sz="1400" dirty="0"/>
              <a:t>: 6,48 </a:t>
            </a:r>
            <a:r>
              <a:rPr sz="1400" dirty="0" err="1"/>
              <a:t>Tahun</a:t>
            </a:r>
            <a:r>
              <a:rPr sz="1400" dirty="0"/>
              <a:t> | Median LTV: 36,0%</a:t>
            </a:r>
            <a:br>
              <a:rPr sz="1400" dirty="0"/>
            </a:b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Proporsi</a:t>
            </a:r>
            <a:r>
              <a:rPr sz="1400" dirty="0"/>
              <a:t> </a:t>
            </a:r>
            <a:r>
              <a:rPr sz="1400" dirty="0" err="1"/>
              <a:t>Risiko</a:t>
            </a:r>
            <a:r>
              <a:rPr sz="1400" dirty="0"/>
              <a:t> Non-Performing Loan (NPL):</a:t>
            </a:r>
            <a:br>
              <a:rPr sz="1400" dirty="0"/>
            </a:br>
            <a:r>
              <a:rPr sz="1400" dirty="0"/>
              <a:t>   • </a:t>
            </a:r>
            <a:r>
              <a:rPr sz="1400" dirty="0" err="1"/>
              <a:t>Kredit</a:t>
            </a:r>
            <a:r>
              <a:rPr sz="1400" dirty="0"/>
              <a:t> </a:t>
            </a:r>
            <a:r>
              <a:rPr sz="1400" dirty="0" err="1"/>
              <a:t>Lancar</a:t>
            </a:r>
            <a:r>
              <a:rPr sz="1400" dirty="0"/>
              <a:t> (Non-NPL): 129.853 </a:t>
            </a:r>
            <a:r>
              <a:rPr sz="1400" dirty="0" err="1"/>
              <a:t>transaksi</a:t>
            </a:r>
            <a:r>
              <a:rPr sz="1400" dirty="0"/>
              <a:t> (93,09%)</a:t>
            </a:r>
            <a:br>
              <a:rPr sz="1400" dirty="0"/>
            </a:br>
            <a:r>
              <a:rPr sz="1400" dirty="0"/>
              <a:t>   • </a:t>
            </a:r>
            <a:r>
              <a:rPr sz="1400" dirty="0" err="1"/>
              <a:t>Kredit</a:t>
            </a:r>
            <a:r>
              <a:rPr sz="1400" dirty="0"/>
              <a:t> </a:t>
            </a:r>
            <a:r>
              <a:rPr sz="1400" dirty="0" err="1"/>
              <a:t>Macet</a:t>
            </a:r>
            <a:r>
              <a:rPr sz="1400" dirty="0"/>
              <a:t> (NPL): 9.640 </a:t>
            </a:r>
            <a:r>
              <a:rPr sz="1400" dirty="0" err="1"/>
              <a:t>transaksi</a:t>
            </a:r>
            <a:r>
              <a:rPr sz="1400" dirty="0"/>
              <a:t> (6,91%)</a:t>
            </a:r>
            <a:br>
              <a:rPr sz="1400" dirty="0"/>
            </a:br>
            <a:endParaRPr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5AAE13-B954-E14D-BF24-F394D976E6CB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Faktor Risiko #1: Disparitas Tingkat NPL per Sub-Kategori Portofolio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2_npl_rate_by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51168"/>
            <a:ext cx="6675120" cy="4924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280160"/>
            <a:ext cx="3657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3151239"/>
            <a:ext cx="3291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2000" dirty="0"/>
              <a:t>INSIGHT BIVARIAT KUNCI</a:t>
            </a:r>
          </a:p>
          <a:p>
            <a:pPr algn="ctr"/>
            <a:br>
              <a:rPr sz="2000" dirty="0"/>
            </a:br>
            <a:r>
              <a:rPr sz="2000" dirty="0"/>
              <a:t>Baseline NPL </a:t>
            </a:r>
            <a:r>
              <a:rPr sz="2000" dirty="0" err="1"/>
              <a:t>Portofolio</a:t>
            </a:r>
            <a:r>
              <a:rPr sz="2000" dirty="0"/>
              <a:t>: 6,91%</a:t>
            </a:r>
            <a:br>
              <a:rPr sz="2000" dirty="0"/>
            </a:br>
            <a:endParaRPr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F6B158-733F-3E4C-A2B2-31F9395937F7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Faktor Risiko #2: Hubungan Non-Linear Usia Motor Terhadap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3_vehicle_age_vs_n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675120" cy="39699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280160"/>
            <a:ext cx="3657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1462626"/>
            <a:ext cx="32918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200" dirty="0"/>
              <a:t>ANALISIS DEPRESIASI AGUNAN</a:t>
            </a:r>
          </a:p>
          <a:p>
            <a:br>
              <a:rPr sz="1200" dirty="0"/>
            </a:br>
            <a:r>
              <a:rPr sz="1200" dirty="0"/>
              <a:t>1. </a:t>
            </a:r>
            <a:r>
              <a:rPr sz="1200" dirty="0" err="1"/>
              <a:t>Tren</a:t>
            </a:r>
            <a:r>
              <a:rPr sz="1200" dirty="0"/>
              <a:t> </a:t>
            </a:r>
            <a:r>
              <a:rPr sz="1200" dirty="0" err="1"/>
              <a:t>Monotonik</a:t>
            </a:r>
            <a:r>
              <a:rPr sz="1200" dirty="0"/>
              <a:t> </a:t>
            </a:r>
            <a:r>
              <a:rPr sz="1200" dirty="0" err="1"/>
              <a:t>Kenaikan</a:t>
            </a:r>
            <a:r>
              <a:rPr sz="1200" dirty="0"/>
              <a:t> </a:t>
            </a:r>
            <a:r>
              <a:rPr sz="1200" dirty="0" err="1"/>
              <a:t>Risiko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Usia</a:t>
            </a:r>
            <a:r>
              <a:rPr sz="1200" dirty="0"/>
              <a:t> 0–3 </a:t>
            </a:r>
            <a:r>
              <a:rPr sz="1200" dirty="0" err="1"/>
              <a:t>tahun</a:t>
            </a:r>
            <a:r>
              <a:rPr sz="1200" dirty="0"/>
              <a:t>: 5,91% NPL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Usia</a:t>
            </a:r>
            <a:r>
              <a:rPr sz="1200" dirty="0"/>
              <a:t> 4–6 </a:t>
            </a:r>
            <a:r>
              <a:rPr sz="1200" dirty="0" err="1"/>
              <a:t>tahun</a:t>
            </a:r>
            <a:r>
              <a:rPr sz="1200" dirty="0"/>
              <a:t>: 6,51% NPL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Usia</a:t>
            </a:r>
            <a:r>
              <a:rPr sz="1200" dirty="0"/>
              <a:t> 7–9 </a:t>
            </a:r>
            <a:r>
              <a:rPr sz="1200" dirty="0" err="1"/>
              <a:t>tahun</a:t>
            </a:r>
            <a:r>
              <a:rPr sz="1200" dirty="0"/>
              <a:t>: 7,39% NPL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Usia</a:t>
            </a:r>
            <a:r>
              <a:rPr sz="1200" dirty="0"/>
              <a:t> &gt;= 10 </a:t>
            </a:r>
            <a:r>
              <a:rPr sz="1200" dirty="0" err="1"/>
              <a:t>tahun</a:t>
            </a:r>
            <a:r>
              <a:rPr sz="1200" dirty="0"/>
              <a:t>: 7,72% NPL</a:t>
            </a:r>
            <a:br>
              <a:rPr sz="1200" dirty="0"/>
            </a:br>
            <a:br>
              <a:rPr sz="1200" dirty="0"/>
            </a:br>
            <a:r>
              <a:rPr sz="1200" dirty="0"/>
              <a:t>2. </a:t>
            </a:r>
            <a:r>
              <a:rPr sz="1200" dirty="0" err="1"/>
              <a:t>Efek</a:t>
            </a:r>
            <a:r>
              <a:rPr sz="1200" dirty="0"/>
              <a:t> Marginal </a:t>
            </a:r>
            <a:r>
              <a:rPr sz="1200" dirty="0" err="1"/>
              <a:t>Regresi</a:t>
            </a:r>
            <a:r>
              <a:rPr sz="1200" dirty="0"/>
              <a:t> </a:t>
            </a:r>
            <a:r>
              <a:rPr sz="1200" dirty="0" err="1"/>
              <a:t>Logistik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Setiap</a:t>
            </a:r>
            <a:r>
              <a:rPr sz="1200" dirty="0"/>
              <a:t> </a:t>
            </a:r>
            <a:r>
              <a:rPr sz="1200" dirty="0" err="1"/>
              <a:t>bertambah</a:t>
            </a:r>
            <a:r>
              <a:rPr sz="1200" dirty="0"/>
              <a:t> 1 </a:t>
            </a:r>
            <a:r>
              <a:rPr sz="1200" dirty="0" err="1"/>
              <a:t>tahun</a:t>
            </a:r>
            <a:r>
              <a:rPr sz="1200" dirty="0"/>
              <a:t> </a:t>
            </a:r>
            <a:r>
              <a:rPr sz="1200" dirty="0" err="1"/>
              <a:t>usia</a:t>
            </a:r>
            <a:r>
              <a:rPr sz="1200" dirty="0"/>
              <a:t> motor, odds default </a:t>
            </a:r>
            <a:r>
              <a:rPr sz="1200" dirty="0" err="1"/>
              <a:t>meningkat</a:t>
            </a:r>
            <a:r>
              <a:rPr sz="1200" dirty="0"/>
              <a:t> </a:t>
            </a:r>
            <a:r>
              <a:rPr sz="1200" dirty="0" err="1"/>
              <a:t>secara</a:t>
            </a:r>
            <a:r>
              <a:rPr sz="1200" dirty="0"/>
              <a:t> </a:t>
            </a:r>
            <a:r>
              <a:rPr sz="1200" dirty="0" err="1"/>
              <a:t>pasti</a:t>
            </a:r>
            <a:r>
              <a:rPr sz="1200" dirty="0"/>
              <a:t> </a:t>
            </a:r>
            <a:r>
              <a:rPr sz="1200" dirty="0" err="1"/>
              <a:t>sebesar</a:t>
            </a:r>
            <a:r>
              <a:rPr sz="1200" dirty="0"/>
              <a:t> +9,3% (OR = 1,093, p &lt; 10⁻⁶⁷).</a:t>
            </a:r>
            <a:br>
              <a:rPr sz="1200" dirty="0"/>
            </a:br>
            <a:br>
              <a:rPr sz="1200" dirty="0"/>
            </a:br>
            <a:r>
              <a:rPr sz="1200" dirty="0"/>
              <a:t>3. </a:t>
            </a:r>
            <a:r>
              <a:rPr sz="1200" dirty="0" err="1"/>
              <a:t>Mekanisme</a:t>
            </a:r>
            <a:r>
              <a:rPr sz="1200" dirty="0"/>
              <a:t> </a:t>
            </a:r>
            <a:r>
              <a:rPr sz="1200" dirty="0" err="1"/>
              <a:t>Ekonomi</a:t>
            </a:r>
            <a:r>
              <a:rPr sz="1200" dirty="0"/>
              <a:t> &amp; </a:t>
            </a:r>
            <a:r>
              <a:rPr sz="1200" dirty="0" err="1"/>
              <a:t>Penjelasan</a:t>
            </a:r>
            <a:r>
              <a:rPr sz="1200" dirty="0"/>
              <a:t> Ahli: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Agunan</a:t>
            </a:r>
            <a:r>
              <a:rPr sz="1200" dirty="0"/>
              <a:t> </a:t>
            </a:r>
            <a:r>
              <a:rPr sz="1200" dirty="0" err="1"/>
              <a:t>tua</a:t>
            </a:r>
            <a:r>
              <a:rPr sz="1200" dirty="0"/>
              <a:t> </a:t>
            </a:r>
            <a:r>
              <a:rPr sz="1200" dirty="0" err="1"/>
              <a:t>mengalami</a:t>
            </a:r>
            <a:r>
              <a:rPr sz="1200" dirty="0"/>
              <a:t> </a:t>
            </a:r>
            <a:r>
              <a:rPr sz="1200" dirty="0" err="1"/>
              <a:t>percepatan</a:t>
            </a:r>
            <a:r>
              <a:rPr sz="1200" dirty="0"/>
              <a:t> </a:t>
            </a:r>
            <a:r>
              <a:rPr sz="1200" dirty="0" err="1"/>
              <a:t>depresiasi</a:t>
            </a:r>
            <a:r>
              <a:rPr sz="1200" dirty="0"/>
              <a:t> pasar yang </a:t>
            </a:r>
            <a:r>
              <a:rPr sz="1200" dirty="0" err="1"/>
              <a:t>drastis</a:t>
            </a:r>
            <a:r>
              <a:rPr sz="1200" dirty="0"/>
              <a:t>.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Biaya</a:t>
            </a:r>
            <a:r>
              <a:rPr sz="1200" dirty="0"/>
              <a:t> </a:t>
            </a:r>
            <a:r>
              <a:rPr sz="1200" dirty="0" err="1"/>
              <a:t>perawatan</a:t>
            </a:r>
            <a:r>
              <a:rPr sz="1200" dirty="0"/>
              <a:t> dan </a:t>
            </a:r>
            <a:r>
              <a:rPr sz="1200" dirty="0" err="1"/>
              <a:t>risiko</a:t>
            </a:r>
            <a:r>
              <a:rPr sz="1200" dirty="0"/>
              <a:t> </a:t>
            </a:r>
            <a:r>
              <a:rPr sz="1200" dirty="0" err="1"/>
              <a:t>kerusakan</a:t>
            </a:r>
            <a:r>
              <a:rPr sz="1200" dirty="0"/>
              <a:t> </a:t>
            </a:r>
            <a:r>
              <a:rPr sz="1200" dirty="0" err="1"/>
              <a:t>mesin</a:t>
            </a:r>
            <a:r>
              <a:rPr sz="1200" dirty="0"/>
              <a:t> </a:t>
            </a:r>
            <a:r>
              <a:rPr sz="1200" dirty="0" err="1"/>
              <a:t>melonjak</a:t>
            </a:r>
            <a:r>
              <a:rPr sz="1200" dirty="0"/>
              <a:t> </a:t>
            </a:r>
            <a:r>
              <a:rPr sz="1200" dirty="0" err="1"/>
              <a:t>tajam</a:t>
            </a:r>
            <a:r>
              <a:rPr sz="1200" dirty="0"/>
              <a:t>.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Saat</a:t>
            </a:r>
            <a:r>
              <a:rPr sz="1200" dirty="0"/>
              <a:t> </a:t>
            </a:r>
            <a:r>
              <a:rPr sz="1200" dirty="0" err="1"/>
              <a:t>plafon</a:t>
            </a:r>
            <a:r>
              <a:rPr sz="1200" dirty="0"/>
              <a:t> </a:t>
            </a:r>
            <a:r>
              <a:rPr sz="1200" dirty="0" err="1"/>
              <a:t>pinjaman</a:t>
            </a:r>
            <a:r>
              <a:rPr sz="1200" dirty="0"/>
              <a:t> </a:t>
            </a:r>
            <a:r>
              <a:rPr sz="1200" dirty="0" err="1"/>
              <a:t>mendekati</a:t>
            </a:r>
            <a:r>
              <a:rPr sz="1200" dirty="0"/>
              <a:t> </a:t>
            </a:r>
            <a:r>
              <a:rPr sz="1200" dirty="0" err="1"/>
              <a:t>nilai</a:t>
            </a:r>
            <a:r>
              <a:rPr sz="1200" dirty="0"/>
              <a:t> </a:t>
            </a:r>
            <a:r>
              <a:rPr sz="1200" dirty="0" err="1"/>
              <a:t>sisa</a:t>
            </a:r>
            <a:r>
              <a:rPr sz="1200" dirty="0"/>
              <a:t> </a:t>
            </a:r>
            <a:r>
              <a:rPr sz="1200" dirty="0" err="1"/>
              <a:t>riil</a:t>
            </a:r>
            <a:r>
              <a:rPr sz="1200" dirty="0"/>
              <a:t> motor </a:t>
            </a:r>
            <a:r>
              <a:rPr sz="1200" dirty="0" err="1"/>
              <a:t>tua</a:t>
            </a:r>
            <a:r>
              <a:rPr sz="1200" dirty="0"/>
              <a:t>, </a:t>
            </a:r>
            <a:r>
              <a:rPr sz="1200" dirty="0" err="1"/>
              <a:t>debitur</a:t>
            </a:r>
            <a:r>
              <a:rPr sz="1200" dirty="0"/>
              <a:t> </a:t>
            </a:r>
            <a:r>
              <a:rPr sz="1200" dirty="0" err="1"/>
              <a:t>cenderung</a:t>
            </a:r>
            <a:r>
              <a:rPr sz="1200" dirty="0"/>
              <a:t> </a:t>
            </a:r>
            <a:r>
              <a:rPr sz="1200" dirty="0" err="1"/>
              <a:t>melepaskan</a:t>
            </a:r>
            <a:r>
              <a:rPr sz="1200" dirty="0"/>
              <a:t> (abandon) </a:t>
            </a:r>
            <a:r>
              <a:rPr sz="1200" dirty="0" err="1"/>
              <a:t>barang</a:t>
            </a:r>
            <a:r>
              <a:rPr sz="1200" dirty="0"/>
              <a:t> </a:t>
            </a:r>
            <a:r>
              <a:rPr sz="1200" dirty="0" err="1"/>
              <a:t>jaminan</a:t>
            </a:r>
            <a:r>
              <a:rPr sz="1200" dirty="0"/>
              <a:t> </a:t>
            </a:r>
            <a:r>
              <a:rPr sz="1200" dirty="0" err="1"/>
              <a:t>ke</a:t>
            </a:r>
            <a:r>
              <a:rPr sz="1200" dirty="0"/>
              <a:t> </a:t>
            </a:r>
            <a:r>
              <a:rPr sz="1200" dirty="0" err="1"/>
              <a:t>cabang</a:t>
            </a:r>
            <a:r>
              <a:rPr sz="12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2EF6A-660A-E84B-AFB1-623DE0A15C94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Dekomposisi Ekonometrika: Fenomena Simpson's Paradox pada Rasio LTV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4_simpsons_paradox_ltv_st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675120" cy="29613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280160"/>
            <a:ext cx="3657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371600"/>
            <a:ext cx="3291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200" dirty="0"/>
              <a:t>DEKOMPOSISI PARADOKS STATISTIK</a:t>
            </a:r>
          </a:p>
          <a:p>
            <a:br>
              <a:rPr sz="1200" dirty="0"/>
            </a:br>
            <a:r>
              <a:rPr sz="1200" dirty="0"/>
              <a:t>1. </a:t>
            </a:r>
            <a:r>
              <a:rPr sz="1200" dirty="0" err="1"/>
              <a:t>Anomali</a:t>
            </a:r>
            <a:r>
              <a:rPr sz="1200" dirty="0"/>
              <a:t> </a:t>
            </a:r>
            <a:r>
              <a:rPr sz="1200" dirty="0" err="1"/>
              <a:t>Univariat</a:t>
            </a:r>
            <a:r>
              <a:rPr sz="1200" dirty="0"/>
              <a:t> </a:t>
            </a:r>
            <a:r>
              <a:rPr sz="1200" dirty="0" err="1"/>
              <a:t>Semu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Secara</a:t>
            </a:r>
            <a:r>
              <a:rPr sz="1200" dirty="0"/>
              <a:t> </a:t>
            </a:r>
            <a:r>
              <a:rPr sz="1200" dirty="0" err="1"/>
              <a:t>agregat</a:t>
            </a:r>
            <a:r>
              <a:rPr sz="1200" dirty="0"/>
              <a:t>, LTV </a:t>
            </a:r>
            <a:r>
              <a:rPr sz="1200" dirty="0" err="1"/>
              <a:t>tinggi</a:t>
            </a:r>
            <a:r>
              <a:rPr sz="1200" dirty="0"/>
              <a:t> (41–50%) </a:t>
            </a:r>
            <a:r>
              <a:rPr sz="1200" dirty="0" err="1"/>
              <a:t>memiliki</a:t>
            </a:r>
            <a:r>
              <a:rPr sz="1200" dirty="0"/>
              <a:t> </a:t>
            </a:r>
            <a:r>
              <a:rPr sz="1200" dirty="0" err="1"/>
              <a:t>tingkat</a:t>
            </a:r>
            <a:r>
              <a:rPr sz="1200" dirty="0"/>
              <a:t> NPL </a:t>
            </a:r>
            <a:r>
              <a:rPr sz="1200" dirty="0" err="1"/>
              <a:t>lebih</a:t>
            </a:r>
            <a:r>
              <a:rPr sz="1200" dirty="0"/>
              <a:t> </a:t>
            </a:r>
            <a:r>
              <a:rPr sz="1200" dirty="0" err="1"/>
              <a:t>rendah</a:t>
            </a:r>
            <a:r>
              <a:rPr sz="1200" dirty="0"/>
              <a:t> (6,36%) </a:t>
            </a:r>
            <a:r>
              <a:rPr sz="1200" dirty="0" err="1"/>
              <a:t>dibanding</a:t>
            </a:r>
            <a:r>
              <a:rPr sz="1200" dirty="0"/>
              <a:t> LTV </a:t>
            </a:r>
            <a:r>
              <a:rPr sz="1200" dirty="0" err="1"/>
              <a:t>sedang</a:t>
            </a:r>
            <a:r>
              <a:rPr sz="1200" dirty="0"/>
              <a:t> 36–40% (7,90%).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Ini</a:t>
            </a:r>
            <a:r>
              <a:rPr sz="1200" dirty="0"/>
              <a:t> </a:t>
            </a:r>
            <a:r>
              <a:rPr sz="1200" dirty="0" err="1"/>
              <a:t>bertentangan</a:t>
            </a:r>
            <a:r>
              <a:rPr sz="1200" dirty="0"/>
              <a:t> </a:t>
            </a:r>
            <a:r>
              <a:rPr sz="1200" dirty="0" err="1"/>
              <a:t>dengan</a:t>
            </a:r>
            <a:r>
              <a:rPr sz="1200" dirty="0"/>
              <a:t> </a:t>
            </a:r>
            <a:r>
              <a:rPr sz="1200" dirty="0" err="1"/>
              <a:t>teori</a:t>
            </a:r>
            <a:r>
              <a:rPr sz="1200" dirty="0"/>
              <a:t> </a:t>
            </a:r>
            <a:r>
              <a:rPr sz="1200" dirty="0" err="1"/>
              <a:t>kredit</a:t>
            </a:r>
            <a:r>
              <a:rPr sz="1200" dirty="0"/>
              <a:t> </a:t>
            </a:r>
            <a:r>
              <a:rPr sz="1200" dirty="0" err="1"/>
              <a:t>konvensional</a:t>
            </a:r>
            <a:r>
              <a:rPr sz="1200" dirty="0"/>
              <a:t> </a:t>
            </a:r>
            <a:r>
              <a:rPr sz="1200" dirty="0" err="1"/>
              <a:t>bahwa</a:t>
            </a:r>
            <a:r>
              <a:rPr sz="1200" dirty="0"/>
              <a:t> LTV </a:t>
            </a:r>
            <a:r>
              <a:rPr sz="1200" dirty="0" err="1"/>
              <a:t>lebih</a:t>
            </a:r>
            <a:r>
              <a:rPr sz="1200" dirty="0"/>
              <a:t> </a:t>
            </a:r>
            <a:r>
              <a:rPr sz="1200" dirty="0" err="1"/>
              <a:t>tinggi</a:t>
            </a:r>
            <a:r>
              <a:rPr sz="1200" dirty="0"/>
              <a:t> </a:t>
            </a:r>
            <a:r>
              <a:rPr sz="1200" dirty="0" err="1"/>
              <a:t>selalu</a:t>
            </a:r>
            <a:r>
              <a:rPr sz="1200" dirty="0"/>
              <a:t> </a:t>
            </a:r>
            <a:r>
              <a:rPr sz="1200" dirty="0" err="1"/>
              <a:t>lebih</a:t>
            </a:r>
            <a:r>
              <a:rPr sz="1200" dirty="0"/>
              <a:t> </a:t>
            </a:r>
            <a:r>
              <a:rPr sz="1200" dirty="0" err="1"/>
              <a:t>berisiko</a:t>
            </a:r>
            <a:r>
              <a:rPr sz="1200" dirty="0"/>
              <a:t>.</a:t>
            </a:r>
            <a:br>
              <a:rPr sz="1200" dirty="0"/>
            </a:br>
            <a:br>
              <a:rPr sz="1200" dirty="0"/>
            </a:br>
            <a:r>
              <a:rPr sz="1200" dirty="0"/>
              <a:t>2. </a:t>
            </a:r>
            <a:r>
              <a:rPr sz="1200" dirty="0" err="1"/>
              <a:t>Pembongkaran</a:t>
            </a:r>
            <a:r>
              <a:rPr sz="1200" dirty="0"/>
              <a:t> Confounding Variable: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Penaksir</a:t>
            </a:r>
            <a:r>
              <a:rPr sz="1200" dirty="0"/>
              <a:t> </a:t>
            </a:r>
            <a:r>
              <a:rPr sz="1200" dirty="0" err="1"/>
              <a:t>cabang</a:t>
            </a:r>
            <a:r>
              <a:rPr sz="1200" dirty="0"/>
              <a:t> </a:t>
            </a:r>
            <a:r>
              <a:rPr sz="1200" dirty="0" err="1"/>
              <a:t>secara</a:t>
            </a:r>
            <a:r>
              <a:rPr sz="1200" dirty="0"/>
              <a:t> </a:t>
            </a:r>
            <a:r>
              <a:rPr sz="1200" dirty="0" err="1"/>
              <a:t>sadar</a:t>
            </a:r>
            <a:r>
              <a:rPr sz="1200" dirty="0"/>
              <a:t> </a:t>
            </a:r>
            <a:r>
              <a:rPr sz="1200" dirty="0" err="1"/>
              <a:t>membatasi</a:t>
            </a:r>
            <a:r>
              <a:rPr sz="1200" dirty="0"/>
              <a:t> LTV </a:t>
            </a:r>
            <a:r>
              <a:rPr sz="1200" dirty="0" err="1"/>
              <a:t>untuk</a:t>
            </a:r>
            <a:r>
              <a:rPr sz="1200" dirty="0"/>
              <a:t> STNK Orang Lain </a:t>
            </a:r>
            <a:r>
              <a:rPr sz="1200" dirty="0" err="1"/>
              <a:t>maksimal</a:t>
            </a:r>
            <a:r>
              <a:rPr sz="1200" dirty="0"/>
              <a:t> 35%–40%.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Akibatnya</a:t>
            </a:r>
            <a:r>
              <a:rPr sz="1200" dirty="0"/>
              <a:t>, </a:t>
            </a:r>
            <a:r>
              <a:rPr sz="1200" dirty="0" err="1"/>
              <a:t>kelompok</a:t>
            </a:r>
            <a:r>
              <a:rPr sz="1200" dirty="0"/>
              <a:t> LTV 41–50% </a:t>
            </a:r>
            <a:r>
              <a:rPr sz="1200" dirty="0" err="1"/>
              <a:t>didominasi</a:t>
            </a:r>
            <a:r>
              <a:rPr sz="1200" dirty="0"/>
              <a:t> 97% oleh </a:t>
            </a:r>
            <a:r>
              <a:rPr sz="1200" dirty="0" err="1"/>
              <a:t>nasabah</a:t>
            </a:r>
            <a:r>
              <a:rPr sz="1200" dirty="0"/>
              <a:t> STNK A/N </a:t>
            </a:r>
            <a:r>
              <a:rPr sz="1200" dirty="0" err="1"/>
              <a:t>Sendiri</a:t>
            </a:r>
            <a:r>
              <a:rPr sz="1200" dirty="0"/>
              <a:t> yang </a:t>
            </a:r>
            <a:r>
              <a:rPr sz="1200" dirty="0" err="1"/>
              <a:t>secara</a:t>
            </a:r>
            <a:r>
              <a:rPr sz="1200" dirty="0"/>
              <a:t> </a:t>
            </a:r>
            <a:r>
              <a:rPr sz="1200" dirty="0" err="1"/>
              <a:t>intrinsik</a:t>
            </a:r>
            <a:r>
              <a:rPr sz="1200" dirty="0"/>
              <a:t> </a:t>
            </a:r>
            <a:r>
              <a:rPr sz="1200" dirty="0" err="1"/>
              <a:t>sangat</a:t>
            </a:r>
            <a:r>
              <a:rPr sz="1200" dirty="0"/>
              <a:t> </a:t>
            </a:r>
            <a:r>
              <a:rPr sz="1200" dirty="0" err="1"/>
              <a:t>patuh</a:t>
            </a:r>
            <a:r>
              <a:rPr sz="1200" dirty="0"/>
              <a:t>!</a:t>
            </a:r>
            <a:br>
              <a:rPr sz="1200" dirty="0"/>
            </a:br>
            <a:br>
              <a:rPr sz="1200" dirty="0"/>
            </a:br>
            <a:r>
              <a:rPr sz="1200" dirty="0"/>
              <a:t>3. </a:t>
            </a:r>
            <a:r>
              <a:rPr sz="1200" dirty="0" err="1"/>
              <a:t>Resolusi</a:t>
            </a:r>
            <a:r>
              <a:rPr sz="1200" dirty="0"/>
              <a:t> </a:t>
            </a:r>
            <a:r>
              <a:rPr sz="1200" dirty="0" err="1"/>
              <a:t>Multivariat</a:t>
            </a:r>
            <a:r>
              <a:rPr sz="1200" dirty="0"/>
              <a:t> </a:t>
            </a:r>
            <a:r>
              <a:rPr sz="1200" dirty="0" err="1"/>
              <a:t>Ekonometrika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   • Setelah </a:t>
            </a:r>
            <a:r>
              <a:rPr sz="1200" dirty="0" err="1"/>
              <a:t>faktor</a:t>
            </a:r>
            <a:r>
              <a:rPr sz="1200" dirty="0"/>
              <a:t> </a:t>
            </a:r>
            <a:r>
              <a:rPr sz="1200" dirty="0" err="1"/>
              <a:t>kepemilikan</a:t>
            </a:r>
            <a:r>
              <a:rPr sz="1200" dirty="0"/>
              <a:t> STNK </a:t>
            </a:r>
            <a:r>
              <a:rPr sz="1200" dirty="0" err="1"/>
              <a:t>dikontrol</a:t>
            </a:r>
            <a:r>
              <a:rPr sz="1200" dirty="0"/>
              <a:t> </a:t>
            </a:r>
            <a:r>
              <a:rPr sz="1200" dirty="0" err="1"/>
              <a:t>dalam</a:t>
            </a:r>
            <a:r>
              <a:rPr sz="1200" dirty="0"/>
              <a:t> </a:t>
            </a:r>
            <a:r>
              <a:rPr sz="1200" dirty="0" err="1"/>
              <a:t>regresi</a:t>
            </a:r>
            <a:r>
              <a:rPr sz="1200" dirty="0"/>
              <a:t> </a:t>
            </a:r>
            <a:r>
              <a:rPr sz="1200" dirty="0" err="1"/>
              <a:t>logistik</a:t>
            </a:r>
            <a:r>
              <a:rPr sz="1200" dirty="0"/>
              <a:t> </a:t>
            </a:r>
            <a:r>
              <a:rPr sz="1200" dirty="0" err="1"/>
              <a:t>multivariat</a:t>
            </a:r>
            <a:r>
              <a:rPr sz="1200" dirty="0"/>
              <a:t>, LTV_MAX </a:t>
            </a:r>
            <a:r>
              <a:rPr sz="1200" dirty="0" err="1"/>
              <a:t>terbukti</a:t>
            </a:r>
            <a:r>
              <a:rPr sz="1200" dirty="0"/>
              <a:t> </a:t>
            </a:r>
            <a:r>
              <a:rPr sz="1200" dirty="0" err="1"/>
              <a:t>menurunkan</a:t>
            </a:r>
            <a:r>
              <a:rPr sz="1200" dirty="0"/>
              <a:t> AIC </a:t>
            </a:r>
            <a:r>
              <a:rPr sz="1200" dirty="0" err="1"/>
              <a:t>sebesar</a:t>
            </a:r>
            <a:r>
              <a:rPr sz="1200" dirty="0"/>
              <a:t> 98 </a:t>
            </a:r>
            <a:r>
              <a:rPr sz="1200" dirty="0" err="1"/>
              <a:t>poin</a:t>
            </a:r>
            <a:r>
              <a:rPr sz="1200" dirty="0"/>
              <a:t> dan </a:t>
            </a:r>
            <a:r>
              <a:rPr sz="1200" dirty="0" err="1"/>
              <a:t>menjadi</a:t>
            </a:r>
            <a:r>
              <a:rPr sz="1200" dirty="0"/>
              <a:t> </a:t>
            </a:r>
            <a:r>
              <a:rPr sz="1200" dirty="0" err="1"/>
              <a:t>pengendali</a:t>
            </a:r>
            <a:r>
              <a:rPr sz="1200" dirty="0"/>
              <a:t> </a:t>
            </a:r>
            <a:r>
              <a:rPr sz="1200" dirty="0" err="1"/>
              <a:t>risiko</a:t>
            </a:r>
            <a:r>
              <a:rPr sz="1200" dirty="0"/>
              <a:t> </a:t>
            </a:r>
            <a:r>
              <a:rPr sz="1200" dirty="0" err="1"/>
              <a:t>krusial</a:t>
            </a:r>
            <a:r>
              <a:rPr sz="12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80886-C2C9-5E42-947E-CA55B82FFA10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Evaluasi Ekonometrika: Komparasi 5 Model Regresi Logistik Bertingkat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7327" y="1280160"/>
            <a:ext cx="1069848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289363"/>
              </p:ext>
            </p:extLst>
          </p:nvPr>
        </p:nvGraphicFramePr>
        <p:xfrm>
          <a:off x="836256" y="1243584"/>
          <a:ext cx="10974592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4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88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4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Model </a:t>
                      </a:r>
                      <a:r>
                        <a:rPr sz="1200" dirty="0" err="1"/>
                        <a:t>Ekonometrika</a:t>
                      </a:r>
                      <a:endParaRPr sz="1200"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Log-Likelihood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Wilks LR Stat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AIC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BIC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Pseudo R²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Brier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Model 0 (Null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-35.057,9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70.117,9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70.127,7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0,06433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Model 1 (Core Risk Model)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-34.507,9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1.100,1***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69.031,7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69.110,5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0,0157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0,6002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0,06385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Model 2 (Core + LTV_MAX </a:t>
                      </a:r>
                      <a:r>
                        <a:rPr sz="1200" dirty="0" err="1"/>
                        <a:t>Kontinu</a:t>
                      </a:r>
                      <a:r>
                        <a:rPr sz="1200"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-34.456,8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1.202,2***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68.931,6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69.020,2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0,6039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0,06383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Model 3 (Core + Zona LTV </a:t>
                      </a:r>
                      <a:r>
                        <a:rPr sz="1200" dirty="0" err="1"/>
                        <a:t>Diskrit</a:t>
                      </a:r>
                      <a:r>
                        <a:rPr sz="12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-34.469,5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1.176,9***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68.959,0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69.057,5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0,0168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0,6027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0,06381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Model 4 (Full Enhanced Model)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10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-33.377,6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3.360,7***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66.775,1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66.873,6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0,0479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0,6702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200" dirty="0"/>
                        <a:t>0,06291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38912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rPr dirty="0"/>
              <a:t>KEUNGGULAN MODEL 2 ATAS MODEL 3 (LTV_MAX)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rPr dirty="0"/>
              <a:t>• Model 2 (LTV_MAX </a:t>
            </a:r>
            <a:r>
              <a:rPr dirty="0" err="1"/>
              <a:t>kontinu</a:t>
            </a:r>
            <a:r>
              <a:rPr dirty="0"/>
              <a:t>) </a:t>
            </a:r>
            <a:r>
              <a:rPr dirty="0" err="1"/>
              <a:t>menghasilkan</a:t>
            </a:r>
            <a:r>
              <a:rPr dirty="0"/>
              <a:t> AIC 68.931,6,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unggul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Model 3 (zona </a:t>
            </a:r>
            <a:r>
              <a:rPr dirty="0" err="1"/>
              <a:t>diskrit</a:t>
            </a:r>
            <a:r>
              <a:rPr dirty="0"/>
              <a:t>) </a:t>
            </a:r>
            <a:r>
              <a:rPr dirty="0" err="1"/>
              <a:t>dengan</a:t>
            </a:r>
            <a:r>
              <a:rPr dirty="0"/>
              <a:t> AIC 68.959,0 (ΔAIC = -27,4).</a:t>
            </a:r>
            <a:br>
              <a:rPr dirty="0"/>
            </a:br>
            <a:r>
              <a:rPr dirty="0"/>
              <a:t>• LTV </a:t>
            </a:r>
            <a:r>
              <a:rPr dirty="0" err="1"/>
              <a:t>kontinu</a:t>
            </a:r>
            <a:r>
              <a:rPr dirty="0"/>
              <a:t> </a:t>
            </a:r>
            <a:r>
              <a:rPr dirty="0" err="1"/>
              <a:t>mengeliminasi</a:t>
            </a:r>
            <a:r>
              <a:rPr dirty="0"/>
              <a:t> </a:t>
            </a:r>
            <a:r>
              <a:rPr dirty="0" err="1"/>
              <a:t>distorsi</a:t>
            </a:r>
            <a:r>
              <a:rPr dirty="0"/>
              <a:t> </a:t>
            </a:r>
            <a:r>
              <a:rPr dirty="0" err="1"/>
              <a:t>kategorisasi</a:t>
            </a:r>
            <a:r>
              <a:rPr dirty="0"/>
              <a:t> </a:t>
            </a:r>
            <a:r>
              <a:rPr dirty="0" err="1"/>
              <a:t>buatan</a:t>
            </a:r>
            <a:r>
              <a:rPr dirty="0"/>
              <a:t> dan </a:t>
            </a:r>
            <a:r>
              <a:rPr dirty="0" err="1"/>
              <a:t>mempertahankan</a:t>
            </a:r>
            <a:r>
              <a:rPr dirty="0"/>
              <a:t> </a:t>
            </a:r>
            <a:r>
              <a:rPr dirty="0" err="1"/>
              <a:t>granularitas</a:t>
            </a:r>
            <a:r>
              <a:rPr dirty="0"/>
              <a:t> </a:t>
            </a:r>
            <a:r>
              <a:rPr dirty="0" err="1"/>
              <a:t>variasi</a:t>
            </a:r>
            <a:r>
              <a:rPr dirty="0"/>
              <a:t> </a:t>
            </a:r>
            <a:r>
              <a:rPr dirty="0" err="1"/>
              <a:t>batas</a:t>
            </a:r>
            <a:r>
              <a:rPr dirty="0"/>
              <a:t> </a:t>
            </a:r>
            <a:r>
              <a:rPr dirty="0" err="1"/>
              <a:t>jaminan</a:t>
            </a:r>
            <a:r>
              <a:rPr dirty="0"/>
              <a:t> </a:t>
            </a:r>
            <a:r>
              <a:rPr dirty="0" err="1"/>
              <a:t>kredit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DOMINASI MODEL 4 (FULL ENHANCED MODEL)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Model 4 meraih lonjakan LR Stat = 3.360,7 (p &lt; 10⁻³⁰⁰), AIC terendah 66.775,1 (penurunan -2.156 poin dr Model 2).</a:t>
            </a:r>
            <a:br/>
            <a:r>
              <a:t>• ROC-AUC melonjak tajam ke 0,6702 dan PR-AUC mencapai 0,1124 (+62,7% di atas random).</a:t>
            </a:r>
            <a:br/>
            <a:r>
              <a:t>• Membuktikan riwayat debitur adalah prediktor behavioral terkuat.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3D8D9-E548-7648-BAD8-5BA781D40B85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Evaluasi Diskriminasi &amp; Kalibrasi Model (ROC Curves &amp; Reliability)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32" y="1822703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ccdd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82A40-B8EF-3548-AD4D-D47E76332CF7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9BAA4D-B94E-B243-8CF7-BF62775F9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16" y="1440421"/>
            <a:ext cx="5394960" cy="47086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D94713-DB38-F44F-BE30-EA00FD546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70882"/>
            <a:ext cx="5513324" cy="46477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Verifikasi Hipotesis Metodologi Riset Ekonometrika (H1 s/d H8)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096738"/>
              </p:ext>
            </p:extLst>
          </p:nvPr>
        </p:nvGraphicFramePr>
        <p:xfrm>
          <a:off x="822960" y="1371600"/>
          <a:ext cx="10515600" cy="486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 err="1"/>
                        <a:t>Pernyataan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Hipotesis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Riset</a:t>
                      </a:r>
                      <a:endParaRPr sz="1200"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Variabel Penguji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p-value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Odds Ratio (95% CI)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Kesimpulan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 err="1"/>
                        <a:t>Terdapat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hubungan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antara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kepemilikan</a:t>
                      </a:r>
                      <a:r>
                        <a:rPr sz="1200" dirty="0"/>
                        <a:t> STNK dan NPL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kondisi_stnk (A/N Orang Lain)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&lt; 10⁻¹⁰⁰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1,710 [1,628, 1,797]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DITERIMA (Signifikan)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 err="1"/>
                        <a:t>Terdapat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hubungan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antara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pekerjaan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debitur</a:t>
                      </a:r>
                      <a:r>
                        <a:rPr sz="1200" dirty="0"/>
                        <a:t> dan NPL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pekerjaan_group (Subset N=25k)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&lt; 10⁻⁴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3,460 [2,450, 4,880]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DITERIMA (Signifikan)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 err="1"/>
                        <a:t>Terdapat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hubungan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antara</a:t>
                      </a:r>
                      <a:r>
                        <a:rPr sz="1200" dirty="0"/>
                        <a:t> merk motor dan NPL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merk_group (Yamaha vs Honda)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1,050 [0,999, 1,103]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DITERIMA (Signifikan)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 err="1"/>
                        <a:t>Usia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kendaraan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bermotor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berhubungan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positif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dgn</a:t>
                      </a:r>
                      <a:r>
                        <a:rPr sz="1200" dirty="0"/>
                        <a:t> NPL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usia_kendaraan_thn (+1 Tahun)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&lt; 10⁻⁶⁷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1,093 [1,082, 1,104]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DITERIMA (Signifikan)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 err="1"/>
                        <a:t>Terdapat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hubungan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antara</a:t>
                      </a:r>
                      <a:r>
                        <a:rPr sz="1200" dirty="0"/>
                        <a:t> status </a:t>
                      </a:r>
                      <a:r>
                        <a:rPr sz="1200" dirty="0" err="1"/>
                        <a:t>pajak</a:t>
                      </a:r>
                      <a:r>
                        <a:rPr sz="1200" dirty="0"/>
                        <a:t> STNK dan NPL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pajak_status (Pajak Aktif vs Mati)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&lt; 10⁻⁶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1,118 [1,070, 1,169]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DITERIMA (Signifikan)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 err="1"/>
                        <a:t>Besaran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plafon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pinjaman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berhubungan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dgn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risiko</a:t>
                      </a:r>
                      <a:r>
                        <a:rPr sz="1200" dirty="0"/>
                        <a:t> NPL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pinjaman_juta (+Rp 1 Juta)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&lt; 10⁻⁸⁵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1,434 [1,383, 1,486]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DITERIMA (Signifikan)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Batas LTV </a:t>
                      </a:r>
                      <a:r>
                        <a:rPr sz="1200" dirty="0" err="1"/>
                        <a:t>Maksimum</a:t>
                      </a:r>
                      <a:r>
                        <a:rPr sz="1200" dirty="0"/>
                        <a:t> (LTV_MAX) </a:t>
                      </a:r>
                      <a:r>
                        <a:rPr sz="1200" dirty="0" err="1"/>
                        <a:t>berhubungan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dgn</a:t>
                      </a:r>
                      <a:r>
                        <a:rPr sz="1200" dirty="0"/>
                        <a:t> NPL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LTV_MAX (Kontinu)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&lt; 10⁻²⁴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0,097 [0,063, 0,152]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DITERIMA (Signifikan)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/>
                        <a:t>H8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Model LTV </a:t>
                      </a:r>
                      <a:r>
                        <a:rPr sz="1200" dirty="0" err="1"/>
                        <a:t>kontinu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lebih</a:t>
                      </a:r>
                      <a:r>
                        <a:rPr sz="1200" dirty="0"/>
                        <a:t> superior </a:t>
                      </a:r>
                      <a:r>
                        <a:rPr sz="1200" dirty="0" err="1"/>
                        <a:t>dibanding</a:t>
                      </a:r>
                      <a:r>
                        <a:rPr sz="1200" dirty="0"/>
                        <a:t> LTV </a:t>
                      </a:r>
                      <a:r>
                        <a:rPr sz="1200" dirty="0" err="1"/>
                        <a:t>diskrit</a:t>
                      </a:r>
                      <a:endParaRPr sz="120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Model 2 vs Model 3 (ΔAIC)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Superior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AIC 68.931 vs 68.959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200" dirty="0"/>
                        <a:t>DITERIMA (Model 2 </a:t>
                      </a:r>
                      <a:r>
                        <a:rPr sz="1200" dirty="0" err="1"/>
                        <a:t>Unggul</a:t>
                      </a:r>
                      <a:r>
                        <a:rPr sz="12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56A7A24-6576-5446-9B2D-F1CEC0115375}"/>
              </a:ext>
            </a:extLst>
          </p:cNvPr>
          <p:cNvSpPr txBox="1"/>
          <p:nvPr/>
        </p:nvSpPr>
        <p:spPr>
          <a:xfrm>
            <a:off x="731520" y="99896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Diagnostik Ekonometrika: Uji Multikolinearitas (VIF) &amp; Uji Sensitivitas Missing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400" dirty="0"/>
              <a:t>UJI MULTIKOLINEARITAS (VIF)</a:t>
            </a:r>
          </a:p>
          <a:p>
            <a:br>
              <a:rPr sz="1400" dirty="0"/>
            </a:br>
            <a:r>
              <a:rPr sz="1400" dirty="0" err="1"/>
              <a:t>Evaluasi</a:t>
            </a:r>
            <a:r>
              <a:rPr sz="1400" dirty="0"/>
              <a:t> Variance Inflation Factor (Threshold </a:t>
            </a:r>
            <a:r>
              <a:rPr sz="1400" dirty="0" err="1"/>
              <a:t>Kritis</a:t>
            </a:r>
            <a:r>
              <a:rPr sz="1400" dirty="0"/>
              <a:t> VIF &lt; 5.0):</a:t>
            </a:r>
            <a:br>
              <a:rPr sz="1400" dirty="0"/>
            </a:b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Pinjaman</a:t>
            </a:r>
            <a:r>
              <a:rPr sz="1400" dirty="0"/>
              <a:t> </a:t>
            </a:r>
            <a:r>
              <a:rPr sz="1400" dirty="0" err="1"/>
              <a:t>Pokok</a:t>
            </a:r>
            <a:r>
              <a:rPr sz="1400" dirty="0"/>
              <a:t> (Juta Rp): VIF = 2,21 (Aman)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Usia</a:t>
            </a:r>
            <a:r>
              <a:rPr sz="1400" dirty="0"/>
              <a:t> </a:t>
            </a:r>
            <a:r>
              <a:rPr sz="1400" dirty="0" err="1"/>
              <a:t>Kendaraan</a:t>
            </a:r>
            <a:r>
              <a:rPr sz="1400" dirty="0"/>
              <a:t> (</a:t>
            </a:r>
            <a:r>
              <a:rPr sz="1400" dirty="0" err="1"/>
              <a:t>Tahun</a:t>
            </a:r>
            <a:r>
              <a:rPr sz="1400" dirty="0"/>
              <a:t>): VIF = 2,07 (Aman)</a:t>
            </a:r>
            <a:br>
              <a:rPr sz="1400" dirty="0"/>
            </a:br>
            <a:r>
              <a:rPr sz="1400" dirty="0"/>
              <a:t>• LTV_MAX: VIF = 1,50 (Aman)</a:t>
            </a:r>
            <a:br>
              <a:rPr sz="1400" dirty="0"/>
            </a:br>
            <a:r>
              <a:rPr sz="1400" dirty="0"/>
              <a:t>• STNK A/N Orang Lain: VIF = 1,30 (Aman)</a:t>
            </a:r>
            <a:br>
              <a:rPr sz="1400" dirty="0"/>
            </a:br>
            <a:r>
              <a:rPr sz="1400" dirty="0"/>
              <a:t>• Merk Yamaha: VIF = 1,05 (Aman)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Pajak</a:t>
            </a:r>
            <a:r>
              <a:rPr sz="1400" dirty="0"/>
              <a:t> </a:t>
            </a:r>
            <a:r>
              <a:rPr sz="1400" dirty="0" err="1"/>
              <a:t>Aktif</a:t>
            </a:r>
            <a:r>
              <a:rPr sz="1400" dirty="0"/>
              <a:t>: VIF = 1,04 (Aman)</a:t>
            </a:r>
            <a:br>
              <a:rPr sz="1400" dirty="0"/>
            </a:br>
            <a:r>
              <a:rPr sz="1400" dirty="0"/>
              <a:t>• Merk Kawasaki: VIF = 1,04 (Aman)</a:t>
            </a:r>
            <a:br>
              <a:rPr sz="1400" dirty="0"/>
            </a:br>
            <a:r>
              <a:rPr sz="1400" dirty="0"/>
              <a:t>• Merk </a:t>
            </a:r>
            <a:r>
              <a:rPr sz="1400" dirty="0" err="1"/>
              <a:t>Lainnya</a:t>
            </a:r>
            <a:r>
              <a:rPr sz="1400" dirty="0"/>
              <a:t>: VIF = 1,01 (Aman)</a:t>
            </a:r>
            <a:br>
              <a:rPr sz="1400" dirty="0"/>
            </a:br>
            <a:br>
              <a:rPr sz="1400" dirty="0"/>
            </a:br>
            <a:r>
              <a:rPr sz="1400" dirty="0"/>
              <a:t>Kesimpulan </a:t>
            </a:r>
            <a:r>
              <a:rPr sz="1400" dirty="0" err="1"/>
              <a:t>Diagnostik</a:t>
            </a:r>
            <a:r>
              <a:rPr sz="1400" dirty="0"/>
              <a:t>:</a:t>
            </a:r>
            <a:br>
              <a:rPr sz="1400" dirty="0"/>
            </a:br>
            <a:r>
              <a:rPr sz="1400" dirty="0" err="1"/>
              <a:t>Seluruh</a:t>
            </a:r>
            <a:r>
              <a:rPr sz="1400" dirty="0"/>
              <a:t> </a:t>
            </a:r>
            <a:r>
              <a:rPr sz="1400" dirty="0" err="1"/>
              <a:t>prediktor</a:t>
            </a:r>
            <a:r>
              <a:rPr sz="1400" dirty="0"/>
              <a:t> </a:t>
            </a:r>
            <a:r>
              <a:rPr sz="1400" dirty="0" err="1"/>
              <a:t>memiliki</a:t>
            </a:r>
            <a:r>
              <a:rPr sz="1400" dirty="0"/>
              <a:t> VIF &lt; 2,3, </a:t>
            </a:r>
            <a:r>
              <a:rPr sz="1400" dirty="0" err="1"/>
              <a:t>jauh</a:t>
            </a:r>
            <a:r>
              <a:rPr sz="1400" dirty="0"/>
              <a:t> di </a:t>
            </a:r>
            <a:r>
              <a:rPr sz="1400" dirty="0" err="1"/>
              <a:t>bawah</a:t>
            </a:r>
            <a:r>
              <a:rPr sz="1400" dirty="0"/>
              <a:t> </a:t>
            </a:r>
            <a:r>
              <a:rPr sz="1400" dirty="0" err="1"/>
              <a:t>batas</a:t>
            </a:r>
            <a:r>
              <a:rPr sz="1400" dirty="0"/>
              <a:t> </a:t>
            </a:r>
            <a:r>
              <a:rPr sz="1400" dirty="0" err="1"/>
              <a:t>toleransi</a:t>
            </a:r>
            <a:r>
              <a:rPr sz="1400" dirty="0"/>
              <a:t> </a:t>
            </a:r>
            <a:r>
              <a:rPr sz="1400" dirty="0" err="1"/>
              <a:t>ekonometrika</a:t>
            </a:r>
            <a:r>
              <a:rPr sz="1400" dirty="0"/>
              <a:t>. Model </a:t>
            </a:r>
            <a:r>
              <a:rPr sz="1400" dirty="0" err="1"/>
              <a:t>terbukti</a:t>
            </a:r>
            <a:r>
              <a:rPr sz="1400" dirty="0"/>
              <a:t> </a:t>
            </a:r>
            <a:r>
              <a:rPr sz="1400" dirty="0" err="1"/>
              <a:t>bebas</a:t>
            </a:r>
            <a:r>
              <a:rPr sz="1400" dirty="0"/>
              <a:t> </a:t>
            </a:r>
            <a:r>
              <a:rPr sz="1400" dirty="0" err="1"/>
              <a:t>dari</a:t>
            </a:r>
            <a:r>
              <a:rPr sz="1400" dirty="0"/>
              <a:t> </a:t>
            </a:r>
            <a:r>
              <a:rPr sz="1400" dirty="0" err="1"/>
              <a:t>risiko</a:t>
            </a:r>
            <a:r>
              <a:rPr sz="1400" dirty="0"/>
              <a:t> bias </a:t>
            </a:r>
            <a:r>
              <a:rPr sz="1400" dirty="0" err="1"/>
              <a:t>multikolinearitas</a:t>
            </a:r>
            <a:r>
              <a:rPr sz="14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sz="1400" dirty="0"/>
              <a:t>ANALISIS SENSITIVITAS MISSING PEKERJAAN</a:t>
            </a:r>
          </a:p>
          <a:p>
            <a:br>
              <a:rPr sz="1400" dirty="0"/>
            </a:br>
            <a:r>
              <a:rPr sz="1400" dirty="0"/>
              <a:t>Uji Robustness Missing Rate </a:t>
            </a:r>
            <a:r>
              <a:rPr sz="1400" dirty="0" err="1"/>
              <a:t>Pekerjaan</a:t>
            </a:r>
            <a:r>
              <a:rPr sz="1400" dirty="0"/>
              <a:t> (81,8% </a:t>
            </a:r>
            <a:r>
              <a:rPr sz="1400" dirty="0" err="1"/>
              <a:t>Kosong</a:t>
            </a:r>
            <a:r>
              <a:rPr sz="1400" dirty="0"/>
              <a:t>):</a:t>
            </a:r>
            <a:br>
              <a:rPr sz="1400" dirty="0"/>
            </a:br>
            <a:br>
              <a:rPr sz="1400" dirty="0"/>
            </a:br>
            <a:r>
              <a:rPr sz="1400" dirty="0" err="1"/>
              <a:t>Dilakukan</a:t>
            </a:r>
            <a:r>
              <a:rPr sz="1400" dirty="0"/>
              <a:t> </a:t>
            </a:r>
            <a:r>
              <a:rPr sz="1400" dirty="0" err="1"/>
              <a:t>perbandingan</a:t>
            </a:r>
            <a:r>
              <a:rPr sz="1400" dirty="0"/>
              <a:t> </a:t>
            </a:r>
            <a:r>
              <a:rPr sz="1400" dirty="0" err="1"/>
              <a:t>koefisien</a:t>
            </a:r>
            <a:r>
              <a:rPr sz="1400" dirty="0"/>
              <a:t> beta </a:t>
            </a:r>
            <a:r>
              <a:rPr sz="1400" dirty="0" err="1"/>
              <a:t>regresi</a:t>
            </a:r>
            <a:r>
              <a:rPr sz="1400" dirty="0"/>
              <a:t> </a:t>
            </a:r>
            <a:r>
              <a:rPr sz="1400" dirty="0" err="1"/>
              <a:t>logistik</a:t>
            </a:r>
            <a:r>
              <a:rPr sz="1400" dirty="0"/>
              <a:t> </a:t>
            </a:r>
            <a:r>
              <a:rPr sz="1400" dirty="0" err="1"/>
              <a:t>antara</a:t>
            </a:r>
            <a:r>
              <a:rPr sz="1400" dirty="0"/>
              <a:t> </a:t>
            </a:r>
            <a:r>
              <a:rPr sz="1400" dirty="0" err="1"/>
              <a:t>Populasi</a:t>
            </a:r>
            <a:r>
              <a:rPr sz="1400" dirty="0"/>
              <a:t> </a:t>
            </a:r>
            <a:r>
              <a:rPr sz="1400" dirty="0" err="1"/>
              <a:t>Penuh</a:t>
            </a:r>
            <a:r>
              <a:rPr sz="1400" dirty="0"/>
              <a:t> (N=139k) vs Subset </a:t>
            </a:r>
            <a:r>
              <a:rPr sz="1400" dirty="0" err="1"/>
              <a:t>Lengkap</a:t>
            </a:r>
            <a:r>
              <a:rPr sz="1400" dirty="0"/>
              <a:t> </a:t>
            </a:r>
            <a:r>
              <a:rPr sz="1400" dirty="0" err="1"/>
              <a:t>Profesi</a:t>
            </a:r>
            <a:r>
              <a:rPr sz="1400" dirty="0"/>
              <a:t> (N=25k):</a:t>
            </a:r>
            <a:br>
              <a:rPr sz="1400" dirty="0"/>
            </a:br>
            <a:br>
              <a:rPr sz="1400" dirty="0"/>
            </a:br>
            <a:r>
              <a:rPr sz="1400" dirty="0"/>
              <a:t>• STNK A/N Orang Lain: OR 1,71 vs OR 1,87 (</a:t>
            </a:r>
            <a:r>
              <a:rPr sz="1400" dirty="0" err="1"/>
              <a:t>Deviasi</a:t>
            </a:r>
            <a:r>
              <a:rPr sz="1400" dirty="0"/>
              <a:t> Beta: +0,75%)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Usia</a:t>
            </a:r>
            <a:r>
              <a:rPr sz="1400" dirty="0"/>
              <a:t> </a:t>
            </a:r>
            <a:r>
              <a:rPr sz="1400" dirty="0" err="1"/>
              <a:t>Kendaraan</a:t>
            </a:r>
            <a:r>
              <a:rPr sz="1400" dirty="0"/>
              <a:t>: OR 1,093 vs OR 1,096 (</a:t>
            </a:r>
            <a:r>
              <a:rPr sz="1400" dirty="0" err="1"/>
              <a:t>Deviasi</a:t>
            </a:r>
            <a:r>
              <a:rPr sz="1400" dirty="0"/>
              <a:t> Beta: +0,08%)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Pinjaman</a:t>
            </a:r>
            <a:r>
              <a:rPr sz="1400" dirty="0"/>
              <a:t> </a:t>
            </a:r>
            <a:r>
              <a:rPr sz="1400" dirty="0" err="1"/>
              <a:t>Pokok</a:t>
            </a:r>
            <a:r>
              <a:rPr sz="1400" dirty="0"/>
              <a:t>: OR 1,434 vs OR 1,423 (</a:t>
            </a:r>
            <a:r>
              <a:rPr sz="1400" dirty="0" err="1"/>
              <a:t>Deviasi</a:t>
            </a:r>
            <a:r>
              <a:rPr sz="1400" dirty="0"/>
              <a:t> Beta: -2,03%)</a:t>
            </a:r>
            <a:br>
              <a:rPr sz="1400" dirty="0"/>
            </a:br>
            <a:r>
              <a:rPr sz="1400" dirty="0"/>
              <a:t>• LTV_MAX: OR 0,097 vs OR 0,064 (</a:t>
            </a:r>
            <a:r>
              <a:rPr sz="1400" dirty="0" err="1"/>
              <a:t>Deviasi</a:t>
            </a:r>
            <a:r>
              <a:rPr sz="1400" dirty="0"/>
              <a:t> Beta: -7,49%)</a:t>
            </a:r>
            <a:br>
              <a:rPr sz="1400" dirty="0"/>
            </a:br>
            <a:br>
              <a:rPr sz="1400" dirty="0"/>
            </a:br>
            <a:r>
              <a:rPr sz="1400" dirty="0"/>
              <a:t>Kesimpulan </a:t>
            </a:r>
            <a:r>
              <a:rPr sz="1400" dirty="0" err="1"/>
              <a:t>Sensitivitas</a:t>
            </a:r>
            <a:r>
              <a:rPr sz="1400" dirty="0"/>
              <a:t>:</a:t>
            </a:r>
            <a:br>
              <a:rPr sz="1400" dirty="0"/>
            </a:br>
            <a:r>
              <a:rPr sz="1400" dirty="0" err="1"/>
              <a:t>Seluruh</a:t>
            </a:r>
            <a:r>
              <a:rPr sz="1400" dirty="0"/>
              <a:t> </a:t>
            </a:r>
            <a:r>
              <a:rPr sz="1400" dirty="0" err="1"/>
              <a:t>deviasi</a:t>
            </a:r>
            <a:r>
              <a:rPr sz="1400" dirty="0"/>
              <a:t> |</a:t>
            </a:r>
            <a:r>
              <a:rPr sz="1400" dirty="0" err="1"/>
              <a:t>Δ</a:t>
            </a:r>
            <a:r>
              <a:rPr sz="1400" dirty="0"/>
              <a:t>β| &lt; 8% (</a:t>
            </a:r>
            <a:r>
              <a:rPr sz="1400" dirty="0" err="1"/>
              <a:t>jauh</a:t>
            </a:r>
            <a:r>
              <a:rPr sz="1400" dirty="0"/>
              <a:t> di </a:t>
            </a:r>
            <a:r>
              <a:rPr sz="1400" dirty="0" err="1"/>
              <a:t>bawah</a:t>
            </a:r>
            <a:r>
              <a:rPr sz="1400" dirty="0"/>
              <a:t> </a:t>
            </a:r>
            <a:r>
              <a:rPr sz="1400" dirty="0" err="1"/>
              <a:t>batas</a:t>
            </a:r>
            <a:r>
              <a:rPr sz="1400" dirty="0"/>
              <a:t> </a:t>
            </a:r>
            <a:r>
              <a:rPr sz="1400" dirty="0" err="1"/>
              <a:t>toleransi</a:t>
            </a:r>
            <a:r>
              <a:rPr sz="1400" dirty="0"/>
              <a:t> 15%). </a:t>
            </a:r>
            <a:r>
              <a:rPr sz="1400" dirty="0" err="1"/>
              <a:t>Menjamin</a:t>
            </a:r>
            <a:r>
              <a:rPr sz="1400" dirty="0"/>
              <a:t> </a:t>
            </a:r>
            <a:r>
              <a:rPr sz="1400" dirty="0" err="1"/>
              <a:t>bahwa</a:t>
            </a:r>
            <a:r>
              <a:rPr sz="1400" dirty="0"/>
              <a:t> </a:t>
            </a:r>
            <a:r>
              <a:rPr sz="1400" dirty="0" err="1"/>
              <a:t>ketiadaan</a:t>
            </a:r>
            <a:r>
              <a:rPr sz="1400" dirty="0"/>
              <a:t> data </a:t>
            </a:r>
            <a:r>
              <a:rPr sz="1400" dirty="0" err="1"/>
              <a:t>pekerjaan</a:t>
            </a:r>
            <a:r>
              <a:rPr sz="1400" dirty="0"/>
              <a:t> pada </a:t>
            </a:r>
            <a:r>
              <a:rPr sz="1400" dirty="0" err="1"/>
              <a:t>nasabah</a:t>
            </a:r>
            <a:r>
              <a:rPr sz="1400" dirty="0"/>
              <a:t> </a:t>
            </a:r>
            <a:r>
              <a:rPr sz="1400" dirty="0" err="1"/>
              <a:t>tidak</a:t>
            </a:r>
            <a:r>
              <a:rPr sz="1400" dirty="0"/>
              <a:t> </a:t>
            </a:r>
            <a:r>
              <a:rPr sz="1400" dirty="0" err="1"/>
              <a:t>mendistorsi</a:t>
            </a:r>
            <a:r>
              <a:rPr sz="1400" dirty="0"/>
              <a:t> </a:t>
            </a:r>
            <a:r>
              <a:rPr sz="1400" dirty="0" err="1"/>
              <a:t>koefisien</a:t>
            </a:r>
            <a:r>
              <a:rPr sz="1400" dirty="0"/>
              <a:t> </a:t>
            </a:r>
            <a:r>
              <a:rPr sz="1400" dirty="0" err="1"/>
              <a:t>faktor</a:t>
            </a:r>
            <a:r>
              <a:rPr sz="1400" dirty="0"/>
              <a:t> </a:t>
            </a:r>
            <a:r>
              <a:rPr sz="1400" dirty="0" err="1"/>
              <a:t>risiko</a:t>
            </a:r>
            <a:r>
              <a:rPr sz="1400" dirty="0"/>
              <a:t> </a:t>
            </a:r>
            <a:r>
              <a:rPr sz="1400" dirty="0" err="1"/>
              <a:t>utama</a:t>
            </a:r>
            <a:r>
              <a:rPr sz="1400" dirty="0"/>
              <a:t> </a:t>
            </a:r>
            <a:r>
              <a:rPr sz="1400" dirty="0" err="1"/>
              <a:t>portofolio</a:t>
            </a:r>
            <a:r>
              <a:rPr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51214-F6A8-7E4D-9C33-00B3E8B7A7AD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Matriks Batas LTV Maksimum Cabang Berdasarkan Karakteristik Agunan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Kondisi STNK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 Pajak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Usia Motor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Maks LTV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Kebijakan &amp; Tindakan Cabang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A/N SENDIRI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Pajak 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&lt;= 3 Tahun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45,0%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Green 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Disetujui penuh dengan skema reguler cepat tanpa syarat tambahan.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A/N SENDIRI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Pajak 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4 - 6 Tahun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40,0%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Reguler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Skema standar: Verifikasi fisik wajar nomor rangka dan mesin.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A/N SENDIRI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Pajak 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&gt;= 7 Tahun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35,0%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Waspada Usia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Wajib uji kelayakan mesin dan perhitungkan batas depresiasi pasar.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A/N SENDIRI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Pajak Tidak 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Semua Usia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35,0%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Denda Pajak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Plafon dipotong estimasi denda perpanjangan pajak motor.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A/N ORANG LAIN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Pajak 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&lt;= 5 Tahun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35,0%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Moral Hazard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Wajib surat kuasa bermaterai / fotokopi KTP sah pemilik terdaftar.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A/N ORANG LAIN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Pajak Aktif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&gt;= 6 Tahun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30,0%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Restriksi Ketat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Pembatasan plafon maksimal Rp 3 Juta; approval min. Kepala Unit.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A/N ORANG LAIN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Pajak Tidak Aktif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&gt;= 6 Tahun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&lt;= 25% / TOLAK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Fatal Risk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Risiko sangat kritis; tolak pengajuan untuk hindari moral hazard.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SEMUA KONDISI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Repeat Borrower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Rekam Lunas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+5,0% LTV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Loyalty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Insentif loyalitas nasabah dengan riwayat pinjaman lancar.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4721619-6B53-0847-ADBB-DD30CDC47FC1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Matriks Kebijakan Underwriting 4 Klaster Profesi Debitur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256032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Klaster 1: Prime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PNS, ASN, Guru, Dosen, BUMN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Tingkat NPL: 3,53% - 5,13% (Sangat Rendah)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Plafon Maksimum LTV: 50% OTR (+5% Bonus)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Hard Cap Plafon: Rp 10.000.000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SOP: Fast-track, verifikasi ID Pegawai / Slip Gaji, bebas survei domisili.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56032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Klaster 2: Core Baseline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Karyawan Swasta, IRT, Buruh, Netral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Tingkat NPL: 5,79% - 6,16% (Baseline Portofolio)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Plafon Maksimum LTV: 45% (A/N Sendiri) / 35% (Lain)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Hard Cap Plafon: Rp 7.500.000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SOP: Verifikasi standar KTP, cek fisik agunan, dan nomor kontak darurat.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56032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Klaster 3: Volatile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Pedagang Pasar/Kios, Wiraswasta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Tingkat NPL: 8,62% - 13,16% (Tinggi)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Plafon Maksimum LTV: 40% OTR (-5% Pruning)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Hard Cap Plafon: Rp 6.000.000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SOP: Wajib survei fisik kios/usaha &amp; buku catatan kas harian minimal 1 minggu.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280160"/>
            <a:ext cx="25603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280160"/>
            <a:ext cx="256032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2984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Klaster 4: Vulnerable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Mahasiswa, Pelajar, Belum Bekerja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10312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Tingkat NPL: 7,91% - 7,97% (Sangat Rentan)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Plafon Maksimum LTV: 30% OTR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Hard Cap Plafon: Strict Rp 2.500.000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SOP: Wajib penjamin orang tua serumah. TOLAK MUTLAK jika STNK bukan a/n sendiri!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AC1658-DB94-6148-8858-8B00EEE239B7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Arsitektur Smart Underwriting Credit Scoring &amp; Rekomendasi Real-Time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400" dirty="0"/>
              <a:t>LOGIKA KALKULASI PROBABILITAS</a:t>
            </a:r>
          </a:p>
          <a:p>
            <a:br>
              <a:rPr sz="1400" dirty="0"/>
            </a:br>
            <a:r>
              <a:rPr sz="1400" dirty="0"/>
              <a:t>1. Formula Logit Dasar (Model 4 </a:t>
            </a:r>
            <a:r>
              <a:rPr sz="1400" dirty="0" err="1"/>
              <a:t>Ekonometrika</a:t>
            </a:r>
            <a:r>
              <a:rPr sz="1400" dirty="0"/>
              <a:t>):</a:t>
            </a:r>
            <a:br>
              <a:rPr sz="1400" dirty="0"/>
            </a:br>
            <a:r>
              <a:rPr sz="1400" dirty="0"/>
              <a:t>   Log-Odds = -3,014 + 0,474*(STNK Lain) + 0,058*(</a:t>
            </a:r>
            <a:r>
              <a:rPr sz="1400" dirty="0" err="1"/>
              <a:t>Pajak</a:t>
            </a:r>
            <a:r>
              <a:rPr sz="1400" dirty="0"/>
              <a:t> </a:t>
            </a:r>
            <a:r>
              <a:rPr sz="1400" dirty="0" err="1"/>
              <a:t>Aktif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              + 0,080*(</a:t>
            </a:r>
            <a:r>
              <a:rPr sz="1400" dirty="0" err="1"/>
              <a:t>Usia</a:t>
            </a:r>
            <a:r>
              <a:rPr sz="1400" dirty="0"/>
              <a:t> Motor) + 0,326*(</a:t>
            </a:r>
            <a:r>
              <a:rPr sz="1400" dirty="0" err="1"/>
              <a:t>Pinjaman</a:t>
            </a:r>
            <a:r>
              <a:rPr sz="1400" dirty="0"/>
              <a:t> </a:t>
            </a:r>
            <a:r>
              <a:rPr sz="1400" dirty="0" err="1"/>
              <a:t>Jt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              - 2,192*(LTV_MAX) - 1,240*(Repeat Borrower)</a:t>
            </a:r>
            <a:br>
              <a:rPr sz="1400" dirty="0"/>
            </a:br>
            <a:r>
              <a:rPr sz="1400" dirty="0"/>
              <a:t>              + Dummy Merk [Yamaha +0,058; Kawasaki -0,320]</a:t>
            </a:r>
            <a:br>
              <a:rPr sz="1400" dirty="0"/>
            </a:br>
            <a:br>
              <a:rPr sz="1400" dirty="0"/>
            </a:br>
            <a:r>
              <a:rPr sz="1400" dirty="0"/>
              <a:t>2. Job Risk Overlay Adjustment (Delta Logit </a:t>
            </a:r>
            <a:r>
              <a:rPr sz="1400" dirty="0" err="1"/>
              <a:t>Profesi</a:t>
            </a:r>
            <a:r>
              <a:rPr sz="1400" dirty="0"/>
              <a:t>):</a:t>
            </a:r>
            <a:br>
              <a:rPr sz="1400" dirty="0"/>
            </a:br>
            <a:r>
              <a:rPr sz="1400" dirty="0"/>
              <a:t>   • PNS / Guru: Delta = -0,35 (</a:t>
            </a:r>
            <a:r>
              <a:rPr sz="1400" dirty="0" err="1"/>
              <a:t>Mengurangi</a:t>
            </a:r>
            <a:r>
              <a:rPr sz="1400" dirty="0"/>
              <a:t> </a:t>
            </a:r>
            <a:r>
              <a:rPr sz="1400" dirty="0" err="1"/>
              <a:t>probabilitas</a:t>
            </a:r>
            <a:r>
              <a:rPr sz="1400" dirty="0"/>
              <a:t> NPL)</a:t>
            </a:r>
            <a:br>
              <a:rPr sz="1400" dirty="0"/>
            </a:br>
            <a:r>
              <a:rPr sz="1400" dirty="0"/>
              <a:t>   • </a:t>
            </a:r>
            <a:r>
              <a:rPr sz="1400" dirty="0" err="1"/>
              <a:t>Pedagang</a:t>
            </a:r>
            <a:r>
              <a:rPr sz="1400" dirty="0"/>
              <a:t> / </a:t>
            </a:r>
            <a:r>
              <a:rPr sz="1400" dirty="0" err="1"/>
              <a:t>Wiraswasta</a:t>
            </a:r>
            <a:r>
              <a:rPr sz="1400" dirty="0"/>
              <a:t>: Delta = +0,35 (</a:t>
            </a:r>
            <a:r>
              <a:rPr sz="1400" dirty="0" err="1"/>
              <a:t>Kompensasi</a:t>
            </a:r>
            <a:r>
              <a:rPr sz="1400" dirty="0"/>
              <a:t> </a:t>
            </a:r>
            <a:r>
              <a:rPr sz="1400" dirty="0" err="1"/>
              <a:t>volatilitas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   • </a:t>
            </a:r>
            <a:r>
              <a:rPr sz="1400" dirty="0" err="1"/>
              <a:t>Mahasiswa</a:t>
            </a:r>
            <a:r>
              <a:rPr sz="1400" dirty="0"/>
              <a:t> / </a:t>
            </a:r>
            <a:r>
              <a:rPr sz="1400" dirty="0" err="1"/>
              <a:t>Pengangguran</a:t>
            </a:r>
            <a:r>
              <a:rPr sz="1400" dirty="0"/>
              <a:t>: Delta = +0,45</a:t>
            </a:r>
            <a:br>
              <a:rPr sz="1400" dirty="0"/>
            </a:br>
            <a:br>
              <a:rPr sz="1400" dirty="0"/>
            </a:br>
            <a:r>
              <a:rPr sz="1400" dirty="0"/>
              <a:t>3. Output </a:t>
            </a:r>
            <a:r>
              <a:rPr sz="1400" dirty="0" err="1"/>
              <a:t>Probabilitas</a:t>
            </a:r>
            <a:r>
              <a:rPr sz="1400" dirty="0"/>
              <a:t> Default:</a:t>
            </a:r>
            <a:br>
              <a:rPr sz="1400" dirty="0"/>
            </a:br>
            <a:r>
              <a:rPr sz="1400" dirty="0"/>
              <a:t>   P(NPL) = 1 / (1 + exp(- (Log-Odds + Delta </a:t>
            </a:r>
            <a:r>
              <a:rPr sz="1400" dirty="0" err="1"/>
              <a:t>Profesi</a:t>
            </a:r>
            <a:r>
              <a:rPr sz="1400" dirty="0"/>
              <a:t>)))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sz="1400" dirty="0"/>
              <a:t>TIERING RISIKO &amp; KEPUTUSAN CABANG</a:t>
            </a:r>
          </a:p>
          <a:p>
            <a:br>
              <a:rPr sz="1400" dirty="0"/>
            </a:br>
            <a:r>
              <a:rPr sz="1400" dirty="0"/>
              <a:t>1. Tier 1 - </a:t>
            </a:r>
            <a:r>
              <a:rPr sz="1400" dirty="0" err="1"/>
              <a:t>Sangat</a:t>
            </a:r>
            <a:r>
              <a:rPr sz="1400" dirty="0"/>
              <a:t> </a:t>
            </a:r>
            <a:r>
              <a:rPr sz="1400" dirty="0" err="1"/>
              <a:t>Rendah</a:t>
            </a:r>
            <a:r>
              <a:rPr sz="1400" dirty="0"/>
              <a:t> (P &lt; 3,5%):</a:t>
            </a:r>
            <a:br>
              <a:rPr sz="1400" dirty="0"/>
            </a:br>
            <a:r>
              <a:rPr sz="1400" dirty="0"/>
              <a:t>   • Status: APPROVED (</a:t>
            </a:r>
            <a:r>
              <a:rPr sz="1400" dirty="0" err="1"/>
              <a:t>Disetujui</a:t>
            </a:r>
            <a:r>
              <a:rPr sz="1400" dirty="0"/>
              <a:t> </a:t>
            </a:r>
            <a:r>
              <a:rPr sz="1400" dirty="0" err="1"/>
              <a:t>Penuh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   • Green Lane: </a:t>
            </a:r>
            <a:r>
              <a:rPr sz="1400" dirty="0" err="1"/>
              <a:t>Pencairan</a:t>
            </a:r>
            <a:r>
              <a:rPr sz="1400" dirty="0"/>
              <a:t> </a:t>
            </a:r>
            <a:r>
              <a:rPr sz="1400" dirty="0" err="1"/>
              <a:t>instan</a:t>
            </a:r>
            <a:r>
              <a:rPr sz="1400" dirty="0"/>
              <a:t> </a:t>
            </a:r>
            <a:r>
              <a:rPr sz="1400" dirty="0" err="1"/>
              <a:t>dalam</a:t>
            </a:r>
            <a:r>
              <a:rPr sz="1400" dirty="0"/>
              <a:t> 10 </a:t>
            </a:r>
            <a:r>
              <a:rPr sz="1400" dirty="0" err="1"/>
              <a:t>menit</a:t>
            </a:r>
            <a:r>
              <a:rPr sz="1400" dirty="0"/>
              <a:t>.</a:t>
            </a:r>
            <a:br>
              <a:rPr sz="1400" dirty="0"/>
            </a:br>
            <a:br>
              <a:rPr sz="1400" dirty="0"/>
            </a:br>
            <a:r>
              <a:rPr sz="1400" dirty="0"/>
              <a:t>2. Tier 2 - </a:t>
            </a:r>
            <a:r>
              <a:rPr sz="1400" dirty="0" err="1"/>
              <a:t>Moderat</a:t>
            </a:r>
            <a:r>
              <a:rPr sz="1400" dirty="0"/>
              <a:t> (3,5% &lt;= P &lt; 6,0%):</a:t>
            </a:r>
            <a:br>
              <a:rPr sz="1400" dirty="0"/>
            </a:br>
            <a:r>
              <a:rPr sz="1400" dirty="0"/>
              <a:t>   • Status: APPROVED (</a:t>
            </a:r>
            <a:r>
              <a:rPr sz="1400" dirty="0" err="1"/>
              <a:t>Disetujui</a:t>
            </a:r>
            <a:r>
              <a:rPr sz="1400" dirty="0"/>
              <a:t> </a:t>
            </a:r>
            <a:r>
              <a:rPr sz="1400" dirty="0" err="1"/>
              <a:t>Standar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   • </a:t>
            </a:r>
            <a:r>
              <a:rPr sz="1400" dirty="0" err="1"/>
              <a:t>Verifikasi</a:t>
            </a:r>
            <a:r>
              <a:rPr sz="1400" dirty="0"/>
              <a:t> </a:t>
            </a:r>
            <a:r>
              <a:rPr sz="1400" dirty="0" err="1"/>
              <a:t>standar</a:t>
            </a:r>
            <a:r>
              <a:rPr sz="1400" dirty="0"/>
              <a:t> </a:t>
            </a:r>
            <a:r>
              <a:rPr sz="1400" dirty="0" err="1"/>
              <a:t>kelengkapan</a:t>
            </a:r>
            <a:r>
              <a:rPr sz="1400" dirty="0"/>
              <a:t> </a:t>
            </a:r>
            <a:r>
              <a:rPr sz="1400" dirty="0" err="1"/>
              <a:t>fisik</a:t>
            </a:r>
            <a:r>
              <a:rPr sz="1400" dirty="0"/>
              <a:t> dan </a:t>
            </a:r>
            <a:r>
              <a:rPr sz="1400" dirty="0" err="1"/>
              <a:t>nomor</a:t>
            </a:r>
            <a:r>
              <a:rPr sz="1400" dirty="0"/>
              <a:t> </a:t>
            </a:r>
            <a:r>
              <a:rPr sz="1400" dirty="0" err="1"/>
              <a:t>telepon</a:t>
            </a:r>
            <a:r>
              <a:rPr sz="1400" dirty="0"/>
              <a:t>.</a:t>
            </a:r>
            <a:br>
              <a:rPr sz="1400" dirty="0"/>
            </a:br>
            <a:br>
              <a:rPr sz="1400" dirty="0"/>
            </a:br>
            <a:r>
              <a:rPr sz="1400" dirty="0"/>
              <a:t>3. Tier 3 - </a:t>
            </a:r>
            <a:r>
              <a:rPr sz="1400" dirty="0" err="1"/>
              <a:t>Risiko</a:t>
            </a:r>
            <a:r>
              <a:rPr sz="1400" dirty="0"/>
              <a:t> Tinggi (6,0% &lt;= P &lt; 10,0%):</a:t>
            </a:r>
            <a:br>
              <a:rPr sz="1400" dirty="0"/>
            </a:br>
            <a:r>
              <a:rPr sz="1400" dirty="0"/>
              <a:t>   • Status: CONDITIONAL APPROVAL</a:t>
            </a:r>
            <a:br>
              <a:rPr sz="1400" dirty="0"/>
            </a:br>
            <a:r>
              <a:rPr sz="1400" dirty="0"/>
              <a:t>   • </a:t>
            </a:r>
            <a:r>
              <a:rPr sz="1400" dirty="0" err="1"/>
              <a:t>Pemangkasan</a:t>
            </a:r>
            <a:r>
              <a:rPr sz="1400" dirty="0"/>
              <a:t> </a:t>
            </a:r>
            <a:r>
              <a:rPr sz="1400" dirty="0" err="1"/>
              <a:t>plafon</a:t>
            </a:r>
            <a:r>
              <a:rPr sz="1400" dirty="0"/>
              <a:t> 15% - 25% </a:t>
            </a:r>
            <a:r>
              <a:rPr sz="1400" dirty="0" err="1"/>
              <a:t>atau</a:t>
            </a:r>
            <a:r>
              <a:rPr sz="1400" dirty="0"/>
              <a:t> </a:t>
            </a:r>
            <a:r>
              <a:rPr sz="1400" dirty="0" err="1"/>
              <a:t>pembatasan</a:t>
            </a:r>
            <a:r>
              <a:rPr sz="1400" dirty="0"/>
              <a:t> LTV &lt;= 35%.</a:t>
            </a:r>
            <a:br>
              <a:rPr sz="1400" dirty="0"/>
            </a:br>
            <a:br>
              <a:rPr sz="1400" dirty="0"/>
            </a:br>
            <a:r>
              <a:rPr sz="1400" dirty="0"/>
              <a:t>4. Tier 4 - </a:t>
            </a:r>
            <a:r>
              <a:rPr sz="1400" dirty="0" err="1"/>
              <a:t>Risiko</a:t>
            </a:r>
            <a:r>
              <a:rPr sz="1400" dirty="0"/>
              <a:t> </a:t>
            </a:r>
            <a:r>
              <a:rPr sz="1400" dirty="0" err="1"/>
              <a:t>Kritis</a:t>
            </a:r>
            <a:r>
              <a:rPr sz="1400" dirty="0"/>
              <a:t> (P &gt;= 10,0%):</a:t>
            </a:r>
            <a:br>
              <a:rPr sz="1400" dirty="0"/>
            </a:br>
            <a:r>
              <a:rPr sz="1400" dirty="0"/>
              <a:t>   • Status: HIGH RISK REVIEW / REJECTED</a:t>
            </a:r>
            <a:br>
              <a:rPr sz="1400" dirty="0"/>
            </a:br>
            <a:r>
              <a:rPr sz="1400" dirty="0"/>
              <a:t>   • </a:t>
            </a:r>
            <a:r>
              <a:rPr sz="1400" dirty="0" err="1"/>
              <a:t>Wajib</a:t>
            </a:r>
            <a:r>
              <a:rPr sz="1400" dirty="0"/>
              <a:t> </a:t>
            </a:r>
            <a:r>
              <a:rPr sz="1400" dirty="0" err="1"/>
              <a:t>persetujuan</a:t>
            </a:r>
            <a:r>
              <a:rPr sz="1400" dirty="0"/>
              <a:t> </a:t>
            </a:r>
            <a:r>
              <a:rPr sz="1400" dirty="0" err="1"/>
              <a:t>tertulis</a:t>
            </a:r>
            <a:r>
              <a:rPr sz="1400" dirty="0"/>
              <a:t> </a:t>
            </a:r>
            <a:r>
              <a:rPr sz="1400" dirty="0" err="1"/>
              <a:t>Kepala</a:t>
            </a:r>
            <a:r>
              <a:rPr sz="1400" dirty="0"/>
              <a:t> Cabang </a:t>
            </a:r>
            <a:r>
              <a:rPr sz="1400" dirty="0" err="1"/>
              <a:t>atau</a:t>
            </a:r>
            <a:r>
              <a:rPr sz="1400" dirty="0"/>
              <a:t> </a:t>
            </a:r>
            <a:r>
              <a:rPr sz="1400" dirty="0" err="1"/>
              <a:t>tolak</a:t>
            </a:r>
            <a:r>
              <a:rPr sz="1400" dirty="0"/>
              <a:t> </a:t>
            </a:r>
            <a:r>
              <a:rPr sz="1400" dirty="0" err="1"/>
              <a:t>otomatis</a:t>
            </a:r>
            <a:r>
              <a:rPr sz="1400" dirty="0"/>
              <a:t> </a:t>
            </a:r>
            <a:r>
              <a:rPr sz="1400" dirty="0" err="1"/>
              <a:t>jika</a:t>
            </a:r>
            <a:r>
              <a:rPr sz="1400" dirty="0"/>
              <a:t> </a:t>
            </a:r>
            <a:r>
              <a:rPr sz="1400" dirty="0" err="1"/>
              <a:t>Klaster</a:t>
            </a:r>
            <a:r>
              <a:rPr sz="1400" dirty="0"/>
              <a:t> </a:t>
            </a:r>
            <a:r>
              <a:rPr sz="1400" dirty="0" err="1"/>
              <a:t>Rentan</a:t>
            </a:r>
            <a:r>
              <a:rPr sz="1400" dirty="0"/>
              <a:t> </a:t>
            </a:r>
            <a:r>
              <a:rPr sz="1400" dirty="0" err="1"/>
              <a:t>menggunakan</a:t>
            </a:r>
            <a:r>
              <a:rPr sz="1400" dirty="0"/>
              <a:t> STNK Orang Lain.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D21F92-4F21-DD48-BA37-62C48235BF8A}"/>
              </a:ext>
            </a:extLst>
          </p:cNvPr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PUSAT GADAI INDONESIA  |  DIVISI BISNIS &amp; </a:t>
            </a:r>
            <a:r>
              <a:rPr lang="en-US" dirty="0"/>
              <a:t>DATA ANALYTICS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Roadmap </a:t>
            </a:r>
            <a:r>
              <a:rPr dirty="0" err="1"/>
              <a:t>Implementasi</a:t>
            </a:r>
            <a:r>
              <a:rPr dirty="0"/>
              <a:t> </a:t>
            </a:r>
            <a:r>
              <a:rPr dirty="0" err="1"/>
              <a:t>Strategis</a:t>
            </a:r>
            <a:r>
              <a:rPr dirty="0"/>
              <a:t> &amp; Target </a:t>
            </a:r>
            <a:r>
              <a:rPr dirty="0" err="1"/>
              <a:t>Pengendalian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NPL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42415"/>
            <a:ext cx="12191695" cy="58155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3832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984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Fase 1: Quick Wins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Bulan 1 - 2 (Immediate 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Penerapan hard cap LTV maksimum 35% untuk STNK a/n orang lain di seluruh cabang.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Penetapan batas plafon keras Rp 2,5 Juta untuk klaster mahasiswa dan debitur baru.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Penyesuaian form input data cabang (koleksi wajib NIK pemilik sah &amp; status pekerjaan).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3832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38328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2984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Fase 2: Digitalisasi Sistem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Bulan 3 - 6 (Underwriting Engine)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Integrasi Smart Underwriting Scoring API ke dalam sistem POS loket cabang.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Otomatisasi kalkulasi LTV aman dan rekomendasi keputusan persetujuan secara real-time.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Pelatihan (upskilling) seluruh staf penaksir terkait risiko agunan tua dan moral hazard.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280160"/>
            <a:ext cx="33832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80" y="1280160"/>
            <a:ext cx="338328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12984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Fase 3: Optimasi &amp; Kontrol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Bulan 7 - 12 (Portfolio Governance)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10312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Evaluasi kinerja portofolio triwulanan dan kalibrasi parameter scoring secara berkala.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Pemberian insentif KPI cabang berbasis kualitas kredit (low NPL rate), bukan hanya omzet.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Pengembangan dynamic pricing bunga berbasis profil risiko individual debitur.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TARGET KUANTITATIF EKSEKUTIF 2026: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Dengan implementasi penuh SOP Underwriting Multi-Klaster dan Scoring Engine, portofolio NPL gadai motor diproyeksikan turun dari 6,91% menjadi di bawah 4,50% dalam 12 bulan ke depan. Hal ini berpotensi memitigasi risiko kredit macet sebesar Rp 6,6 Miliar - Rp 8,2 Miliar serta melindungi solvabilitas operasional Pusat Gadai Indonesia.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2798</Words>
  <Application>Microsoft Macintosh PowerPoint</Application>
  <PresentationFormat>Widescreen</PresentationFormat>
  <Paragraphs>282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6</cp:revision>
  <dcterms:created xsi:type="dcterms:W3CDTF">2013-01-27T09:14:16Z</dcterms:created>
  <dcterms:modified xsi:type="dcterms:W3CDTF">2026-09-25T03:33:23Z</dcterms:modified>
  <cp:category/>
</cp:coreProperties>
</file>